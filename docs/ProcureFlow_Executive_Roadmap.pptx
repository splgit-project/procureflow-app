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EA5E9"/>
                </a:solidFill>
                <a:latin typeface="Segoe UI"/>
              </a:defRPr>
            </a:pPr>
            <a:r>
              <a:t>SOUTH PACIFIC LAUNDRY  |  EXECUTIVE WORKSHOP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ProcureFlow Executive Governance</a:t>
            </a:r>
            <a:br/>
            <a:r>
              <a:t>&amp; Spend Management Roadmap</a:t>
            </a:r>
          </a:p>
          <a:p>
            <a:pPr>
              <a:spcAft>
                <a:spcPts val="3600"/>
              </a:spcAft>
              <a:defRPr sz="1400">
                <a:solidFill>
                  <a:srgbClr val="94A3B8"/>
                </a:solidFill>
                <a:latin typeface="Segoe UI"/>
              </a:defRPr>
            </a:pPr>
            <a:r>
              <a:t>Point-of-Entry Governance  •  Approval Workflows &amp; DOA  •  Automated Escalations  •  EOM Budget Parity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12064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EA5E9"/>
                </a:solidFill>
                <a:latin typeface="Segoe UI"/>
              </a:defRPr>
            </a:pPr>
            <a:r>
              <a:t>EXECUTIVE GOVERNANCE COMMITTEE:</a:t>
            </a:r>
          </a:p>
          <a:p>
            <a:pPr>
              <a:defRPr sz="1300" b="1">
                <a:solidFill>
                  <a:srgbClr val="FFFFFF"/>
                </a:solidFill>
                <a:latin typeface="Segoe UI"/>
              </a:defRPr>
            </a:pPr>
            <a:r>
              <a:t>Ebrahim Mokhtari (Chief Operating Officer)   |   Ashish Chhabra (Procurement Lead)   |   Aaron Bell (Tech Lead)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STRATEGIC TRANSFORMATION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Executive Summary: The Transition to Closed-Loop Governance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E11D48"/>
                </a:solidFill>
                <a:latin typeface="Segoe UI"/>
              </a:defRPr>
            </a:pPr>
            <a:r>
              <a:t>PREVIOUS STATE</a:t>
            </a:r>
          </a:p>
          <a:p>
            <a:pPr>
              <a:spcAft>
                <a:spcPts val="14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1. The Operational Challenge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Manual Excel Crunching:</a:t>
            </a:r>
            <a:r>
              <a:rPr sz="1050">
                <a:solidFill>
                  <a:srgbClr val="475569"/>
                </a:solidFill>
                <a:latin typeface="Segoe UI"/>
              </a:rPr>
              <a:t> Hours spent extracting and categorising Concur reports each month.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Uncontrolled Input Quantities:</a:t>
            </a:r>
            <a:r>
              <a:rPr sz="1050">
                <a:solidFill>
                  <a:srgbClr val="475569"/>
                </a:solidFill>
                <a:latin typeface="Segoe UI"/>
              </a:rPr>
              <a:t> Orders placed with arbitrary numbers (e.g. 5,000 units instead of 240 carton sizes).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Contract Price Variances:</a:t>
            </a:r>
            <a:r>
              <a:rPr sz="1050">
                <a:solidFill>
                  <a:srgbClr val="475569"/>
                </a:solidFill>
                <a:latin typeface="Segoe UI"/>
              </a:rPr>
              <a:t> Accidental pricing typos (e.g. 61¢ vs 51¢) causing finance invoice delays.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Missing ERP Linkage:</a:t>
            </a:r>
            <a:r>
              <a:rPr sz="1050">
                <a:solidFill>
                  <a:srgbClr val="475569"/>
                </a:solidFill>
                <a:latin typeface="Segoe UI"/>
              </a:rPr>
              <a:t> Orders receipted in ProcureFlow without Concur PR numbers, breaking audit parity.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54296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0284C7"/>
                </a:solidFill>
                <a:latin typeface="Segoe UI"/>
              </a:defRPr>
            </a:pPr>
            <a:r>
              <a:t>UPGRADED CAPABILITIES</a:t>
            </a:r>
          </a:p>
          <a:p>
            <a:pPr>
              <a:spcAft>
                <a:spcPts val="14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2. ProcureFlow Engineered Solution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Point-of-Entry Validation:</a:t>
            </a:r>
            <a:r>
              <a:rPr sz="1050">
                <a:solidFill>
                  <a:srgbClr val="475569"/>
                </a:solidFill>
                <a:latin typeface="Segoe UI"/>
              </a:rPr>
              <a:t> Hard blocking rules for carton multiples and contracted price master.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DOA Approval Routing:</a:t>
            </a:r>
            <a:r>
              <a:rPr sz="1050">
                <a:solidFill>
                  <a:srgbClr val="475569"/>
                </a:solidFill>
                <a:latin typeface="Segoe UI"/>
              </a:rPr>
              <a:t> Multi-tier approvals aligned with corporate delegation thresholds.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Automated Nudges &amp; Escalation:</a:t>
            </a:r>
            <a:r>
              <a:rPr sz="1050">
                <a:solidFill>
                  <a:srgbClr val="475569"/>
                </a:solidFill>
                <a:latin typeface="Segoe UI"/>
              </a:rPr>
              <a:t> Proactive notifications for 100% receipt closure &amp; &gt;14d overdue shipments.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Automated EOM Reconciliation:</a:t>
            </a:r>
            <a:r>
              <a:rPr sz="1050">
                <a:solidFill>
                  <a:srgbClr val="475569"/>
                </a:solidFill>
                <a:latin typeface="Segoe UI"/>
              </a:rPr>
              <a:t> Real-time 2D Pivot Table &amp; FY27 Budget burn rate tracking.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48472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059669"/>
                </a:solidFill>
                <a:latin typeface="Segoe UI"/>
              </a:defRPr>
            </a:pPr>
            <a:r>
              <a:t>EXECUTIVE IMPACT</a:t>
            </a:r>
          </a:p>
          <a:p>
            <a:pPr>
              <a:spcAft>
                <a:spcPts val="14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3. Strategic Business Value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Single Source of Truth:</a:t>
            </a:r>
            <a:r>
              <a:rPr sz="1050">
                <a:solidFill>
                  <a:srgbClr val="475569"/>
                </a:solidFill>
                <a:latin typeface="Segoe UI"/>
              </a:rPr>
              <a:t> ProcureFlow natively matches SAP Concur financial figures 100%.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Zero-Rework Ordering:</a:t>
            </a:r>
            <a:r>
              <a:rPr sz="1050">
                <a:solidFill>
                  <a:srgbClr val="475569"/>
                </a:solidFill>
                <a:latin typeface="Segoe UI"/>
              </a:rPr>
              <a:t> Eliminates supplier rejections and manual procurement corrections.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Audit &amp; Compliance Assurance:</a:t>
            </a:r>
            <a:r>
              <a:rPr sz="1050">
                <a:solidFill>
                  <a:srgbClr val="475569"/>
                </a:solidFill>
                <a:latin typeface="Segoe UI"/>
              </a:rPr>
              <a:t> Every requisition has full traceability, manager sign-off, and ERP linkage.</a:t>
            </a:r>
          </a:p>
          <a:p>
            <a:pPr>
              <a:spcAft>
                <a:spcPts val="10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Live SOH Transparency:</a:t>
            </a:r>
            <a:r>
              <a:rPr sz="1050">
                <a:solidFill>
                  <a:srgbClr val="475569"/>
                </a:solidFill>
                <a:latin typeface="Segoe UI"/>
              </a:rPr>
              <a:t> Self-service supplier inventory visibility for all state operations managers.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LEADERSHIP ALIGNMENT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Governance Committee: Roles, Responsibilities &amp; Authority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9333EA"/>
                </a:solidFill>
                <a:latin typeface="Segoe UI"/>
              </a:defRPr>
            </a:pPr>
            <a:r>
              <a:t>Ebrahim Mokhtari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Chief Operating Officer (COO)</a:t>
            </a:r>
          </a:p>
          <a:p>
            <a:pPr>
              <a:spcAft>
                <a:spcPts val="1400"/>
              </a:spcAft>
              <a:defRPr sz="850" b="1">
                <a:solidFill>
                  <a:srgbClr val="64748B"/>
                </a:solidFill>
                <a:latin typeface="Segoe UI"/>
              </a:defRPr>
            </a:pPr>
            <a:r>
              <a:t>EXECUTIVE OVERSIGHT &amp; COMMERCIAL GOVERNANCE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Executive Sponsor &amp; final sign-off authority for production cutover.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Reviews national FY27 budget burn rates ($14.521M operating budget).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Tier 3 DOA Approver: Authorizes high-value orders (&gt;$50k), new customer injection capital, and budget exceptions.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Enforces site manager compliance and financial accountability across all laundry branches.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54296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0284C7"/>
                </a:solidFill>
                <a:latin typeface="Segoe UI"/>
              </a:defRPr>
            </a:pPr>
            <a:r>
              <a:t>Ashish Chhabra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Procurement Lead &amp; Super User</a:t>
            </a:r>
          </a:p>
          <a:p>
            <a:pPr>
              <a:spcAft>
                <a:spcPts val="1400"/>
              </a:spcAft>
              <a:defRPr sz="850" b="1">
                <a:solidFill>
                  <a:srgbClr val="64748B"/>
                </a:solidFill>
                <a:latin typeface="Segoe UI"/>
              </a:defRPr>
            </a:pPr>
            <a:r>
              <a:t>PROCUREMENT INTEGRITY &amp; FINANCIAL RECONCILIATION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Procurement Lead &amp; System Super User ensuring commercial data integrity.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Tier 2 DOA Approver: Validates spend reason (Depletion vs New Business), packaging sizes, and contracted pricing.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Reconciles monthly EOM spend against SAP Concur and validates strategic subcontracts (HSV, RHC).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Manages order variance adjustments and supplier catalog master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48472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700" b="1">
                <a:solidFill>
                  <a:srgbClr val="059669"/>
                </a:solidFill>
                <a:latin typeface="Segoe UI"/>
              </a:defRPr>
            </a:pPr>
            <a:r>
              <a:t>Aaron Bell</a:t>
            </a:r>
          </a:p>
          <a:p>
            <a:pPr>
              <a:spcAft>
                <a:spcPts val="400"/>
              </a:spcAft>
              <a:defRPr sz="1100" b="1">
                <a:solidFill>
                  <a:srgbClr val="0F172A"/>
                </a:solidFill>
                <a:latin typeface="Segoe UI"/>
              </a:defRPr>
            </a:pPr>
            <a:r>
              <a:t>Tech Lead &amp; ProcureFlow Developer</a:t>
            </a:r>
          </a:p>
          <a:p>
            <a:pPr>
              <a:spcAft>
                <a:spcPts val="1400"/>
              </a:spcAft>
              <a:defRPr sz="850" b="1">
                <a:solidFill>
                  <a:srgbClr val="64748B"/>
                </a:solidFill>
                <a:latin typeface="Segoe UI"/>
              </a:defRPr>
            </a:pPr>
            <a:r>
              <a:t>SYSTEM ARCHITECTURE, AUTOMATION &amp; GOVERNANCE RULES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Architect and technical developer of ProcureFlow and backend data pipelines.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Builds automated input blocking rules (carton rounding, price master checks).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Engineered multi-channel notifications (In-App, Email, MS Teams) &amp; escalation hierarchies.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Constructed automated 2D Pivot Reconciliation and Live SOH distribution engine.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POINT-OF-ENTRY GOVERNANCE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Pillar 1: Zero-Defect Requisitioning via Input Blocking Rules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284C7"/>
                </a:solidFill>
                <a:latin typeface="Segoe UI"/>
              </a:defRPr>
            </a:pPr>
            <a:r>
              <a:t>1. Carton / Pack Size Multiple Enforcement</a:t>
            </a:r>
          </a:p>
          <a:p>
            <a:pPr>
              <a:spcAft>
                <a:spcPts val="14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The Problem: Staff frequently order arbitrary numbers (e.g. 5,000 units on a 240 carton size, or 90 units on a 100 pack), resulting in supplier order rejection, shipping delays, and manual correction.</a:t>
            </a:r>
          </a:p>
          <a:p>
            <a:pPr>
              <a:spcAft>
                <a:spcPts val="6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The System Rule:</a:t>
            </a:r>
          </a:p>
          <a:p>
            <a:pPr>
              <a:spcAft>
                <a:spcPts val="6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System checks quantityOrdered % cartonQty === 0 live during order entry.</a:t>
            </a:r>
          </a:p>
          <a:p>
            <a:pPr>
              <a:spcAft>
                <a:spcPts val="6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Unrounded orders are blocked with an instant red alert callout.</a:t>
            </a:r>
          </a:p>
          <a:p>
            <a:pPr>
              <a:spcAft>
                <a:spcPts val="6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Provides 1-Click Smart Rounding: E.g., Round 5,000 units to 5,040 units (21 full cartons).</a:t>
            </a:r>
          </a:p>
          <a:p>
            <a:pPr>
              <a:spcAft>
                <a:spcPts val="6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Enforced across POCreate, PODetail, and draft submissions.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9333EA"/>
                </a:solidFill>
                <a:latin typeface="Segoe UI"/>
              </a:defRPr>
            </a:pPr>
            <a:r>
              <a:t>2. Contract Price Master &amp; Item Mapping</a:t>
            </a:r>
          </a:p>
          <a:p>
            <a:pPr>
              <a:spcAft>
                <a:spcPts val="14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The Problem: Manual pricing input causes price variances (e.g. 61¢ keyed instead of 51¢ for face washers), causing invoice matching discrepancies and finance payment blocks.</a:t>
            </a:r>
          </a:p>
          <a:p>
            <a:pPr>
              <a:spcAft>
                <a:spcPts val="6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The System Rule &amp; Milestone:</a:t>
            </a:r>
          </a:p>
          <a:p>
            <a:pPr>
              <a:spcAft>
                <a:spcPts val="6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100% Item Mapping Milestone: All SPL internal codes are linked to supplier vendor codes (Simba, Host, etc.).</a:t>
            </a:r>
          </a:p>
          <a:p>
            <a:pPr>
              <a:spcAft>
                <a:spcPts val="6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Automated Pricing Lookup: Active contracted supplier catalog rates auto-populate PO lines.</a:t>
            </a:r>
          </a:p>
          <a:p>
            <a:pPr>
              <a:spcAft>
                <a:spcPts val="6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Price Variance Block: Disallows $0.00 pricing and flags non-contract price overrides.</a:t>
            </a:r>
          </a:p>
          <a:p>
            <a:pPr>
              <a:spcAft>
                <a:spcPts val="6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Zero invoice discrepancies upon 3-way matching in finance.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WORKFLOW MANAGEMENT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Pillar 2: Delegation of Authority (DOA) &amp; Multi-Tier Approvals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TIER 1: SITE LEVEL</a:t>
            </a:r>
          </a:p>
          <a:p>
            <a:pPr>
              <a:spcAft>
                <a:spcPts val="200"/>
              </a:spcAft>
              <a:defRPr sz="1500" b="1">
                <a:solidFill>
                  <a:srgbClr val="0F172A"/>
                </a:solidFill>
                <a:latin typeface="Segoe UI"/>
              </a:defRPr>
            </a:pPr>
            <a:r>
              <a:t>Site / Branch Operations Managers</a:t>
            </a:r>
          </a:p>
          <a:p>
            <a:pPr>
              <a:spcAft>
                <a:spcPts val="1600"/>
              </a:spcAft>
              <a:defRPr sz="900" b="1">
                <a:solidFill>
                  <a:srgbClr val="64748B"/>
                </a:solidFill>
                <a:latin typeface="Segoe UI"/>
              </a:defRPr>
            </a:pPr>
            <a:r>
              <a:t>BASELINE OPERATIONAL SPEND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Approves routine weekly depletion requisitions within branch threshold.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Verifies need-by delivery dates and branch site delivery readiness.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First line of financial review before procurement routing.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54296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059669"/>
                </a:solidFill>
                <a:latin typeface="Segoe UI"/>
              </a:defRPr>
            </a:pPr>
            <a:r>
              <a:t>TIER 2: PROCUREMENT</a:t>
            </a:r>
          </a:p>
          <a:p>
            <a:pPr>
              <a:spcAft>
                <a:spcPts val="200"/>
              </a:spcAft>
              <a:defRPr sz="1500" b="1">
                <a:solidFill>
                  <a:srgbClr val="0F172A"/>
                </a:solidFill>
                <a:latin typeface="Segoe UI"/>
              </a:defRPr>
            </a:pPr>
            <a:r>
              <a:t>Ashish Chhabra (Procurement Lead)</a:t>
            </a:r>
          </a:p>
          <a:p>
            <a:pPr>
              <a:spcAft>
                <a:spcPts val="1600"/>
              </a:spcAft>
              <a:defRPr sz="900" b="1">
                <a:solidFill>
                  <a:srgbClr val="64748B"/>
                </a:solidFill>
                <a:latin typeface="Segoe UI"/>
              </a:defRPr>
            </a:pPr>
            <a:r>
              <a:t>COMMERCIAL &amp; PARITY GOVERNANCE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Validates spend classification (Depletion vs New Business vs Linen Hub).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Audits carton multiples and supplier catalog price integrity.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Ensures requisition matches approved FY27 branch budget allocation.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48472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333EA"/>
                </a:solidFill>
                <a:latin typeface="Segoe UI"/>
              </a:defRPr>
            </a:pPr>
            <a:r>
              <a:t>TIER 3: EXECUTIVE (COO)</a:t>
            </a:r>
          </a:p>
          <a:p>
            <a:pPr>
              <a:spcAft>
                <a:spcPts val="200"/>
              </a:spcAft>
              <a:defRPr sz="1500" b="1">
                <a:solidFill>
                  <a:srgbClr val="0F172A"/>
                </a:solidFill>
                <a:latin typeface="Segoe UI"/>
              </a:defRPr>
            </a:pPr>
            <a:r>
              <a:t>Ebrahim Mokhtari (Chief Operating Officer)</a:t>
            </a:r>
          </a:p>
          <a:p>
            <a:pPr>
              <a:spcAft>
                <a:spcPts val="1600"/>
              </a:spcAft>
              <a:defRPr sz="900" b="1">
                <a:solidFill>
                  <a:srgbClr val="64748B"/>
                </a:solidFill>
                <a:latin typeface="Segoe UI"/>
              </a:defRPr>
            </a:pPr>
            <a:r>
              <a:t>STRATEGIC &amp; HIGH-VALUE SPEND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Authorizes high-value orders (e.g. &gt;$50,000 threshold).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Reviews &amp; approves New Customer injection capital projects.</a:t>
            </a:r>
          </a:p>
          <a:p>
            <a:pPr>
              <a:spcAft>
                <a:spcPts val="10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Approves unbudgeted threshold exceptions and strategic national stock orders.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OPERATIONAL ALIGNMENT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Pillar 3: Automated Notifications &amp; Management Escalation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059669"/>
                </a:solidFill>
                <a:latin typeface="Segoe UI"/>
              </a:defRPr>
            </a:pPr>
            <a:r>
              <a:t>COMPLETION NUDGES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1. 100% Goods Receipt Closure</a:t>
            </a:r>
          </a:p>
          <a:p>
            <a:pPr>
              <a:spcAft>
                <a:spcPts val="1400"/>
              </a:spcAft>
              <a:defRPr sz="1000">
                <a:solidFill>
                  <a:srgbClr val="64748B"/>
                </a:solidFill>
                <a:latin typeface="Segoe UI"/>
              </a:defRPr>
            </a:pPr>
            <a:r>
              <a:t>Automated closure alerts once physical goods arrive:</a:t>
            </a:r>
          </a:p>
          <a:p>
            <a:pPr>
              <a:spcAft>
                <a:spcPts val="10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Trigger:</a:t>
            </a:r>
            <a:r>
              <a:rPr sz="1000">
                <a:solidFill>
                  <a:srgbClr val="475569"/>
                </a:solidFill>
                <a:latin typeface="Segoe UI"/>
              </a:rPr>
              <a:t> 100% of physical items received on site, but PO remains open in ProcureFlow.</a:t>
            </a:r>
          </a:p>
          <a:p>
            <a:pPr>
              <a:spcAft>
                <a:spcPts val="10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Daily Automated Nudge:</a:t>
            </a:r>
            <a:r>
              <a:rPr sz="1000">
                <a:solidFill>
                  <a:srgbClr val="475569"/>
                </a:solidFill>
                <a:latin typeface="Segoe UI"/>
              </a:rPr>
              <a:t> Prompts requester to formally complete and close the order.</a:t>
            </a:r>
          </a:p>
          <a:p>
            <a:pPr>
              <a:spcAft>
                <a:spcPts val="10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Variance Protection:</a:t>
            </a:r>
            <a:r>
              <a:rPr sz="1000">
                <a:solidFill>
                  <a:srgbClr val="475569"/>
                </a:solidFill>
                <a:latin typeface="Segoe UI"/>
              </a:rPr>
              <a:t> Directs user to adjust quantities with Ashish if delivery differed from order.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54296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E11D48"/>
                </a:solidFill>
                <a:latin typeface="Segoe UI"/>
              </a:defRPr>
            </a:pPr>
            <a:r>
              <a:t>TIERED ESCALATION (&gt;14 DAYS)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2. Overdue Delivery Escalation</a:t>
            </a:r>
          </a:p>
          <a:p>
            <a:pPr>
              <a:spcAft>
                <a:spcPts val="1400"/>
              </a:spcAft>
              <a:defRPr sz="1000">
                <a:solidFill>
                  <a:srgbClr val="64748B"/>
                </a:solidFill>
                <a:latin typeface="Segoe UI"/>
              </a:defRPr>
            </a:pPr>
            <a:r>
              <a:t>Prevents stalled shipments from sitting unnoticed:</a:t>
            </a:r>
          </a:p>
          <a:p>
            <a:pPr>
              <a:spcAft>
                <a:spcPts val="10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Trigger:</a:t>
            </a:r>
            <a:r>
              <a:rPr sz="1000">
                <a:solidFill>
                  <a:srgbClr val="475569"/>
                </a:solidFill>
                <a:latin typeface="Segoe UI"/>
              </a:rPr>
              <a:t> PO line is &gt;14 days past need-by date and not yet delivered.</a:t>
            </a:r>
          </a:p>
          <a:p>
            <a:pPr>
              <a:spcAft>
                <a:spcPts val="10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Tier 1 (Day 15):</a:t>
            </a:r>
            <a:r>
              <a:rPr sz="1000">
                <a:solidFill>
                  <a:srgbClr val="475569"/>
                </a:solidFill>
                <a:latin typeface="Segoe UI"/>
              </a:rPr>
              <a:t> Alert to requester to update delivery date or cancel with supplier.</a:t>
            </a:r>
          </a:p>
          <a:p>
            <a:pPr>
              <a:spcAft>
                <a:spcPts val="10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Tier 2 (Day 21):</a:t>
            </a:r>
            <a:r>
              <a:rPr sz="1000">
                <a:solidFill>
                  <a:srgbClr val="475569"/>
                </a:solidFill>
                <a:latin typeface="Segoe UI"/>
              </a:rPr>
              <a:t> Escalates to Line Managers (e.g. David for Melb/Albury; Ashish &amp; Ebrahim for National).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463040"/>
            <a:ext cx="3328416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48472" y="1691640"/>
            <a:ext cx="287121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0284C7"/>
                </a:solidFill>
                <a:latin typeface="Segoe UI"/>
              </a:defRPr>
            </a:pPr>
            <a:r>
              <a:t>OMNICHANNEL PLATFORM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3. Multi-Channel Dispatch</a:t>
            </a:r>
          </a:p>
          <a:p>
            <a:pPr>
              <a:spcAft>
                <a:spcPts val="1400"/>
              </a:spcAft>
              <a:defRPr sz="1000">
                <a:solidFill>
                  <a:srgbClr val="64748B"/>
                </a:solidFill>
                <a:latin typeface="Segoe UI"/>
              </a:defRPr>
            </a:pPr>
            <a:r>
              <a:t>Delivers notifications directly into daily workflows:</a:t>
            </a:r>
          </a:p>
          <a:p>
            <a:pPr>
              <a:spcAft>
                <a:spcPts val="10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In-App Notification Center:</a:t>
            </a:r>
            <a:r>
              <a:rPr sz="1000">
                <a:solidFill>
                  <a:srgbClr val="475569"/>
                </a:solidFill>
                <a:latin typeface="Segoe UI"/>
              </a:rPr>
              <a:t> Real-time badge drawer with direct action links.</a:t>
            </a:r>
          </a:p>
          <a:p>
            <a:pPr>
              <a:spcAft>
                <a:spcPts val="10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Microsoft Graph Email:</a:t>
            </a:r>
            <a:r>
              <a:rPr sz="1000">
                <a:solidFill>
                  <a:srgbClr val="475569"/>
                </a:solidFill>
                <a:latin typeface="Segoe UI"/>
              </a:rPr>
              <a:t> Branded executive HTML notifications with 1-click approvals.</a:t>
            </a:r>
          </a:p>
          <a:p>
            <a:pPr>
              <a:spcAft>
                <a:spcPts val="1000"/>
              </a:spcAft>
            </a:pPr>
            <a:r>
              <a:rPr sz="1000" b="1">
                <a:solidFill>
                  <a:srgbClr val="0F172A"/>
                </a:solidFill>
                <a:latin typeface="Segoe UI"/>
              </a:rPr>
              <a:t>• Microsoft Teams Webhooks:</a:t>
            </a:r>
            <a:r>
              <a:rPr sz="1000">
                <a:solidFill>
                  <a:srgbClr val="475569"/>
                </a:solidFill>
                <a:latin typeface="Segoe UI"/>
              </a:rPr>
              <a:t> Actionable Adaptive Cards (v1.4) sent to operational channels.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ERP ALIGNMENT &amp; UX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Pillar 4: Mandatory Concur Parity &amp; Homepage Action Center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284C7"/>
                </a:solidFill>
                <a:latin typeface="Segoe UI"/>
              </a:defRPr>
            </a:pPr>
            <a:r>
              <a:t>1. Mandatory Concur PR # Enforcement</a:t>
            </a:r>
          </a:p>
          <a:p>
            <a:pPr>
              <a:spcAft>
                <a:spcPts val="14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The Problem: Users frequently receive orders but fail to link the Concur Purchase Request (PR #) or PO reference number, leaving orders orphaned and un-reconciled.</a:t>
            </a:r>
          </a:p>
          <a:p>
            <a:pPr>
              <a:spcAft>
                <a:spcPts val="8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The Solution &amp; Enforcement:</a:t>
            </a:r>
          </a:p>
          <a:p>
            <a:pPr>
              <a:spcAft>
                <a:spcPts val="8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System Block on Order Closure: Orders cannot be completed or closed without entering a valid Concur PR #.</a:t>
            </a:r>
          </a:p>
          <a:p>
            <a:pPr>
              <a:spcAft>
                <a:spcPts val="8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Guarantees 100% Matching: Every completed PO in ProcureFlow has a direct audit mirror in SAP Concur.</a:t>
            </a:r>
          </a:p>
          <a:p>
            <a:pPr>
              <a:spcAft>
                <a:spcPts val="8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Prevents unlinked expenditure from escaping executive reporting.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D97706"/>
                </a:solidFill>
                <a:latin typeface="Segoe UI"/>
              </a:defRPr>
            </a:pPr>
            <a:r>
              <a:t>2. Homepage 'Action Required' Task Center</a:t>
            </a:r>
          </a:p>
          <a:p>
            <a:pPr>
              <a:spcAft>
                <a:spcPts val="1400"/>
              </a:spcAft>
              <a:defRPr sz="1100">
                <a:solidFill>
                  <a:srgbClr val="475569"/>
                </a:solidFill>
                <a:latin typeface="Segoe UI"/>
              </a:defRPr>
            </a:pPr>
            <a:r>
              <a:t>The Problem: Users must navigate through multiple menus to identify orders that require their attention.</a:t>
            </a:r>
          </a:p>
          <a:p>
            <a:pPr>
              <a:spcAft>
                <a:spcPts val="8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The Solution on Login:</a:t>
            </a:r>
          </a:p>
          <a:p>
            <a:pPr>
              <a:spcAft>
                <a:spcPts val="8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Log Concur PR #: Instant tile showing approved orders waiting for ERP link (1-click to Stage 2).</a:t>
            </a:r>
          </a:p>
          <a:p>
            <a:pPr>
              <a:spcAft>
                <a:spcPts val="8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Ready for Order Closure: Highlights 100% receipted orders ready for final closure (1-click to Stage 5).</a:t>
            </a:r>
          </a:p>
          <a:p>
            <a:pPr>
              <a:spcAft>
                <a:spcPts val="8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Overdue Shipments: Red flag tile showing deliveries &gt;14 days past need-by date (1-click to Stage 4).</a:t>
            </a:r>
          </a:p>
          <a:p>
            <a:pPr>
              <a:spcAft>
                <a:spcPts val="8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Puts pending operational tasks directly in front of users on login.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EXECUTIVE FINANCIAL INTELLIGENCE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Pillar 5: Real-Time EOM Spend &amp; Budget Reconciliation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FY27 TOTAL BUDGET</a:t>
            </a:r>
          </a:p>
          <a:p>
            <a:pPr>
              <a:defRPr sz="2000" b="1">
                <a:solidFill>
                  <a:srgbClr val="0284C7"/>
                </a:solidFill>
                <a:latin typeface="Segoe UI"/>
              </a:defRPr>
            </a:pPr>
            <a:r>
              <a:t>$14.521M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Baseline Operating Budget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83864" y="1463040"/>
            <a:ext cx="246888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21024" y="150876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DEPLETION SPEND TARGET</a:t>
            </a:r>
          </a:p>
          <a:p>
            <a:pPr>
              <a:defRPr sz="2000" b="1">
                <a:solidFill>
                  <a:srgbClr val="059669"/>
                </a:solidFill>
                <a:latin typeface="Segoe UI"/>
              </a:defRPr>
            </a:pPr>
            <a:r>
              <a:t>$9.921M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$826.8k / Monthly Run Rate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6208" y="1463040"/>
            <a:ext cx="246888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3368" y="150876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NEW BUSINESS POOL</a:t>
            </a:r>
          </a:p>
          <a:p>
            <a:pPr>
              <a:defRPr sz="2000" b="1">
                <a:solidFill>
                  <a:srgbClr val="9333EA"/>
                </a:solidFill>
                <a:latin typeface="Segoe UI"/>
              </a:defRPr>
            </a:pPr>
            <a:r>
              <a:t>$2.300M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$191.7k / Monthly Allocation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88552" y="1463040"/>
            <a:ext cx="2468880" cy="11887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25712" y="150876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LINEN HUB DEDICATED</a:t>
            </a:r>
          </a:p>
          <a:p>
            <a:pPr>
              <a:defRPr sz="2000" b="1">
                <a:solidFill>
                  <a:srgbClr val="D97706"/>
                </a:solidFill>
                <a:latin typeface="Segoe UI"/>
              </a:defRPr>
            </a:pPr>
            <a:r>
              <a:t>$2.300M</a:t>
            </a:r>
          </a:p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Real-time Decrement Pool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834640"/>
            <a:ext cx="10728655" cy="3383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17520"/>
            <a:ext cx="1027145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172A"/>
                </a:solidFill>
                <a:latin typeface="Segoe UI"/>
              </a:defRPr>
            </a:pPr>
            <a:r>
              <a:t>Key Capabilities Delivered in ProcureFlow Reporting Hub: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2D Cross-Tabulation Matrix: </a:t>
            </a:r>
            <a:r>
              <a:rPr sz="1050">
                <a:solidFill>
                  <a:srgbClr val="475569"/>
                </a:solidFill>
                <a:latin typeface="Segoe UI"/>
              </a:rPr>
              <a:t>Natively replicates Ashish's Concur EOM Pivot (Branch × Sector: Accommodation/Healthcare × Reason: Depletion/New Business/Linen Hub) excluding GST (Total / 1.1).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100% Classification Precision: </a:t>
            </a:r>
            <a:r>
              <a:rPr sz="1050">
                <a:solidFill>
                  <a:srgbClr val="475569"/>
                </a:solidFill>
                <a:latin typeface="Segoe UI"/>
              </a:rPr>
              <a:t>Automated legacy PO parser accurately classifies unstandardised legacy PO strings with 100.0% parity against historical Concur records.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Branch Budget Tracking Grid: </a:t>
            </a:r>
            <a:r>
              <a:rPr sz="1050">
                <a:solidFill>
                  <a:srgbClr val="475569"/>
                </a:solidFill>
                <a:latin typeface="Segoe UI"/>
              </a:rPr>
              <a:t>Tracks monthly and YTD spend vs baseline budgets across all 8 operating entities (Melbourne $2.65M, Sydney $2.78M, Adelaide $920k, Brisbane $1.03M, Cairns $706k, Mackay $349k, Perth $996k, Albury $481k).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Dedicated Linen Hub Pool: </a:t>
            </a:r>
            <a:r>
              <a:rPr sz="1050">
                <a:solidFill>
                  <a:srgbClr val="475569"/>
                </a:solidFill>
                <a:latin typeface="Segoe UI"/>
              </a:rPr>
              <a:t>Maintains continuous decrement balance tracking against the dedicated $2.30M linen injection reserve.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Strategic Contract Breakouts: </a:t>
            </a:r>
            <a:r>
              <a:rPr sz="1050">
                <a:solidFill>
                  <a:srgbClr val="475569"/>
                </a:solidFill>
                <a:latin typeface="Segoe UI"/>
              </a:rPr>
              <a:t>Real-time visibility into HealthShare Victoria (HSV) and Ramsay Health Care (RHC) contract spend.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0F172A"/>
                </a:solidFill>
                <a:latin typeface="Segoe UI"/>
              </a:rPr>
              <a:t>• 1-Click Concur EOM Export: </a:t>
            </a:r>
            <a:r>
              <a:rPr sz="1050">
                <a:solidFill>
                  <a:srgbClr val="475569"/>
                </a:solidFill>
                <a:latin typeface="Segoe UI"/>
              </a:rPr>
              <a:t>Generates formatted leadership-ready Excel CSV reconciliation files at the click of a button.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INVENTORY TRANSPARENCY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Pillar 6: Self-Service Stock on Hand (SOH) Distribution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284C7"/>
                </a:solidFill>
                <a:latin typeface="Segoe UI"/>
              </a:defRPr>
            </a:pPr>
            <a:r>
              <a:t>1. Elimination of Manual Weekly Emailing</a:t>
            </a:r>
          </a:p>
          <a:p>
            <a:pPr>
              <a:spcAft>
                <a:spcPts val="4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Current State Bottleneck:</a:t>
            </a:r>
          </a:p>
          <a:p>
            <a:pPr>
              <a:spcAft>
                <a:spcPts val="14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Procurement manually cleans, reformats, and emails weekly supplier inventory spreadsheets (SIMBA/HOST) across state managers. This takes valuable time and creates static, out-of-date snapshots.</a:t>
            </a:r>
          </a:p>
          <a:p>
            <a:pPr>
              <a:spcAft>
                <a:spcPts val="6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The ProcureFlow Solution:</a:t>
            </a:r>
          </a:p>
          <a:p>
            <a:pPr>
              <a:spcAft>
                <a:spcPts val="8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Automated Ingestion Pipeline: Ingests supplier inventory feeds automatically in the background.</a:t>
            </a:r>
          </a:p>
          <a:p>
            <a:pPr>
              <a:spcAft>
                <a:spcPts val="8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Real-Time SOH Dashboard: State managers log in and view live stock on hand and committed quantities.</a:t>
            </a:r>
          </a:p>
          <a:p>
            <a:pPr>
              <a:spcAft>
                <a:spcPts val="8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Zero manual emailing required by procurement.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63040"/>
            <a:ext cx="516636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69164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9333EA"/>
                </a:solidFill>
                <a:latin typeface="Segoe UI"/>
              </a:defRPr>
            </a:pPr>
            <a:r>
              <a:t>2. Verification Protocol &amp; Accuracy</a:t>
            </a:r>
          </a:p>
          <a:p>
            <a:pPr>
              <a:spcAft>
                <a:spcPts val="4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Pre-Workshop Validation Action:</a:t>
            </a:r>
          </a:p>
          <a:p>
            <a:pPr>
              <a:spcAft>
                <a:spcPts val="14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Ashish Chhabra and Aaron Bell export the automated SUPPLIER_INVENTORY report directly from ProcureFlow and cross-check line-by-line against the manually distributed version.</a:t>
            </a:r>
          </a:p>
          <a:p>
            <a:pPr>
              <a:spcAft>
                <a:spcPts val="600"/>
              </a:spcAft>
              <a:defRPr sz="1150" b="1">
                <a:solidFill>
                  <a:srgbClr val="0F172A"/>
                </a:solidFill>
                <a:latin typeface="Segoe UI"/>
              </a:defRPr>
            </a:pPr>
            <a:r>
              <a:t>Operational Outcomes:</a:t>
            </a:r>
          </a:p>
          <a:p>
            <a:pPr>
              <a:spcAft>
                <a:spcPts val="8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Guarantees 100% data consistency between supplier feeds and ProcureFlow catalogue.</a:t>
            </a:r>
          </a:p>
          <a:p>
            <a:pPr>
              <a:spcAft>
                <a:spcPts val="8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Empowers site managers to verify stock availability before raising purchase requests.</a:t>
            </a:r>
          </a:p>
          <a:p>
            <a:pPr>
              <a:spcAft>
                <a:spcPts val="800"/>
              </a:spcAft>
              <a:defRPr sz="1050">
                <a:solidFill>
                  <a:srgbClr val="059669"/>
                </a:solidFill>
                <a:latin typeface="Segoe UI"/>
              </a:defRPr>
            </a:pPr>
            <a:r>
              <a:t>✓ Establishes a single, unchallengeable repository for all laundry inventory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EXECUTION &amp; SIGN-OFF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Thursday Executive Workshop Agenda &amp; Production Cutover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24688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0284C7"/>
                </a:solidFill>
                <a:latin typeface="Segoe UI"/>
              </a:defRPr>
            </a:pPr>
            <a:r>
              <a:t>12:00 – 12:30 PM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1. Point-of-Entry Input Governance</a:t>
            </a:r>
          </a:p>
          <a:p>
            <a:pPr>
              <a:spcAft>
                <a:spcPts val="1400"/>
              </a:spcAft>
              <a:defRPr sz="850" b="1">
                <a:solidFill>
                  <a:srgbClr val="64748B"/>
                </a:solidFill>
                <a:latin typeface="Segoe UI"/>
              </a:defRPr>
            </a:pPr>
            <a:r>
              <a:t>LEAD: AARON BELL &amp; ASHISH CHHABRA</a:t>
            </a:r>
          </a:p>
          <a:p>
            <a:pPr>
              <a:spcAft>
                <a:spcPts val="10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Live walkthrough of POCreate: Carton multiple rounding, price master validation, and 100% item code mapping milestone.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566160" y="1463040"/>
            <a:ext cx="24688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49040" y="169164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0284C7"/>
                </a:solidFill>
                <a:latin typeface="Segoe UI"/>
              </a:defRPr>
            </a:pPr>
            <a:r>
              <a:t>12:30 – 1:00 PM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2. DOA Approval &amp; Notification Engine</a:t>
            </a:r>
          </a:p>
          <a:p>
            <a:pPr>
              <a:spcAft>
                <a:spcPts val="1400"/>
              </a:spcAft>
              <a:defRPr sz="850" b="1">
                <a:solidFill>
                  <a:srgbClr val="64748B"/>
                </a:solidFill>
                <a:latin typeface="Segoe UI"/>
              </a:defRPr>
            </a:pPr>
            <a:r>
              <a:t>LEAD: ASHISH CHHABRA &amp; AARON BELL</a:t>
            </a:r>
          </a:p>
          <a:p>
            <a:pPr>
              <a:spcAft>
                <a:spcPts val="10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DOA approval tiers, 100% receipt closure reminders, &gt;14d overdue manager escalation, and mandatory Concur PR # enforcement.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463040"/>
            <a:ext cx="24688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69164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0284C7"/>
                </a:solidFill>
                <a:latin typeface="Segoe UI"/>
              </a:defRPr>
            </a:pPr>
            <a:r>
              <a:t>1:00 – 1:30 PM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3. Executive EOM Spend Reconciliation</a:t>
            </a:r>
          </a:p>
          <a:p>
            <a:pPr>
              <a:spcAft>
                <a:spcPts val="1400"/>
              </a:spcAft>
              <a:defRPr sz="850" b="1">
                <a:solidFill>
                  <a:srgbClr val="64748B"/>
                </a:solidFill>
                <a:latin typeface="Segoe UI"/>
              </a:defRPr>
            </a:pPr>
            <a:r>
              <a:t>LEAD: ASHISH CHHABRA &amp; AARON BELL</a:t>
            </a:r>
          </a:p>
          <a:p>
            <a:pPr>
              <a:spcAft>
                <a:spcPts val="10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Live 2D Pivot Table (Branch × Sector × Reason), FY27 Budget vs Actuals burn rate grid, Linen Hub $2.3M tracker, and 1-Click CSV export.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235440" y="1463040"/>
            <a:ext cx="246888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0" y="1691640"/>
            <a:ext cx="21031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950" b="1">
                <a:solidFill>
                  <a:srgbClr val="0284C7"/>
                </a:solidFill>
                <a:latin typeface="Segoe UI"/>
              </a:defRPr>
            </a:pPr>
            <a:r>
              <a:t>1:30 – 2:00 PM</a:t>
            </a:r>
          </a:p>
          <a:p>
            <a:pPr>
              <a:spcAft>
                <a:spcPts val="600"/>
              </a:spcAft>
              <a:defRPr sz="1300" b="1">
                <a:solidFill>
                  <a:srgbClr val="0F172A"/>
                </a:solidFill>
                <a:latin typeface="Segoe UI"/>
              </a:defRPr>
            </a:pPr>
            <a:r>
              <a:t>4. SOH Automation &amp; Cutover Sign-Off</a:t>
            </a:r>
          </a:p>
          <a:p>
            <a:pPr>
              <a:spcAft>
                <a:spcPts val="1400"/>
              </a:spcAft>
              <a:defRPr sz="850" b="1">
                <a:solidFill>
                  <a:srgbClr val="64748B"/>
                </a:solidFill>
                <a:latin typeface="Segoe UI"/>
              </a:defRPr>
            </a:pPr>
            <a:r>
              <a:t>LEAD: EBRAHIM MOKHTARI (COO)</a:t>
            </a:r>
          </a:p>
          <a:p>
            <a:pPr>
              <a:spcAft>
                <a:spcPts val="1000"/>
              </a:spcAft>
              <a:defRPr sz="1050">
                <a:solidFill>
                  <a:srgbClr val="475569"/>
                </a:solidFill>
                <a:latin typeface="Segoe UI"/>
              </a:defRPr>
            </a:pPr>
            <a:r>
              <a:t>Review automated SOH distribution, feedback synthesis, and formal production sign-off by Ebrahim Mokhtari for merge to main.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