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SOUTH PACIFIC LAUNDRY  |  EXECUTIVE STRATEGIC REVIEW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ProcureFlow: Operational Excellence &amp;</a:t>
            </a:r>
            <a:br/>
            <a:r>
              <a:t>Targeted Governance Enhancements</a:t>
            </a:r>
          </a:p>
          <a:p>
            <a:pPr>
              <a:spcAft>
                <a:spcPts val="3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Current Operational Strengths  •  Continuous Improvement Roadmap  •  Frictionless BAU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EA5E9"/>
                </a:solidFill>
                <a:latin typeface="Segoe UI"/>
              </a:defRPr>
            </a:pPr>
            <a:r>
              <a:t>KEY GOVERNANCE STAKEHOLDERS: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Ebrahim Mokhtari (Chief Operating Officer)   |   Ashish Chhabra (Procurement Lead / Super User)   |   Aaron Bell (Tech Lead)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ALIGNMENT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Strategic Mindset: Elevating a Working Operational Platform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284C7"/>
                </a:solidFill>
                <a:latin typeface="Segoe UI"/>
              </a:defRPr>
            </a:pPr>
            <a:r>
              <a:t>1. PROVEN WORKING PLATFORM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 Stable Daily Engine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Active Daily Requisitioning:</a:t>
            </a:r>
            <a:r>
              <a:rPr sz="1050">
                <a:solidFill>
                  <a:srgbClr val="475569"/>
                </a:solidFill>
                <a:latin typeface="Segoe UI"/>
              </a:rPr>
              <a:t> Runs daily ordering across all 8 regional laundry branches.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100% Master Item Mapping:</a:t>
            </a:r>
            <a:r>
              <a:rPr sz="1050">
                <a:solidFill>
                  <a:srgbClr val="475569"/>
                </a:solidFill>
                <a:latin typeface="Segoe UI"/>
              </a:rPr>
              <a:t> All internal SPL codes mapped 1-to-1 to vendor catalog SKUs.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Physical Receiving &amp; Docket Capture:</a:t>
            </a:r>
            <a:r>
              <a:rPr sz="1050">
                <a:solidFill>
                  <a:srgbClr val="475569"/>
                </a:solidFill>
                <a:latin typeface="Segoe UI"/>
              </a:rPr>
              <a:t> On-site digital goods receipting (GR) actively enforced.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High User Adoption:</a:t>
            </a:r>
            <a:r>
              <a:rPr sz="1050">
                <a:solidFill>
                  <a:srgbClr val="475569"/>
                </a:solidFill>
                <a:latin typeface="Segoe UI"/>
              </a:rPr>
              <a:t> Embedded across site managers, warehouse receivers, and procurement.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D97706"/>
                </a:solidFill>
                <a:latin typeface="Segoe UI"/>
              </a:defRPr>
            </a:pPr>
            <a:r>
              <a:t>2. THE TARGET OF THIS PLAN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Targeted Continuous Improvement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Not 'Fixing' a Broken Tool:</a:t>
            </a:r>
            <a:r>
              <a:rPr sz="1050">
                <a:solidFill>
                  <a:srgbClr val="475569"/>
                </a:solidFill>
                <a:latin typeface="Segoe UI"/>
              </a:rPr>
              <a:t> ProcureFlow already works reliably and securely.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Eliminating Human Friction:</a:t>
            </a:r>
            <a:r>
              <a:rPr sz="1050">
                <a:solidFill>
                  <a:srgbClr val="475569"/>
                </a:solidFill>
                <a:latin typeface="Segoe UI"/>
              </a:rPr>
              <a:t> Removing remaining manual Excel crunching and packaging typos.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Guardrails:</a:t>
            </a:r>
            <a:r>
              <a:rPr sz="1050">
                <a:solidFill>
                  <a:srgbClr val="475569"/>
                </a:solidFill>
                <a:latin typeface="Segoe UI"/>
              </a:rPr>
              <a:t> Guiding users naturally to zero-defect ordering at the source.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Single Source of Truth:</a:t>
            </a:r>
            <a:r>
              <a:rPr sz="1050">
                <a:solidFill>
                  <a:srgbClr val="475569"/>
                </a:solidFill>
                <a:latin typeface="Segoe UI"/>
              </a:rPr>
              <a:t> Permanently synchronizing ProcureFlow with SAP Concur.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3. THE STRATEGIC OUTCOME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Frictionless BAU Integration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Effortless for Sites:</a:t>
            </a:r>
            <a:r>
              <a:rPr sz="1050">
                <a:solidFill>
                  <a:srgbClr val="475569"/>
                </a:solidFill>
                <a:latin typeface="Segoe UI"/>
              </a:rPr>
              <a:t> 1-click carton rounding and immediate homepage task guidance.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Zero-Rework for Procurement:</a:t>
            </a:r>
            <a:r>
              <a:rPr sz="1050">
                <a:solidFill>
                  <a:srgbClr val="475569"/>
                </a:solidFill>
                <a:latin typeface="Segoe UI"/>
              </a:rPr>
              <a:t> Pre-validated orders and automated EOM reconciliation in seconds.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Commercial Control for Leadership:</a:t>
            </a:r>
            <a:r>
              <a:rPr sz="1050">
                <a:solidFill>
                  <a:srgbClr val="475569"/>
                </a:solidFill>
                <a:latin typeface="Segoe UI"/>
              </a:rPr>
              <a:t> Real-time visibility into $14.521M FY27 budget and $2.3M Linen 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DEMONSTRATED CAPABILITIES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ProcureFlow Today: Current Operational Strengths &amp; Baseline Excellence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  <a:latin typeface="Segoe UI"/>
              </a:defRPr>
            </a:pPr>
            <a:r>
              <a:t>01  |  NATIONAL SCALE &amp; MULTI-BRANCH REQUISITIONING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Active daily purchasing across all 8 branches (Melbourne, Sydney, Brisbane, Perth, Adelaide, Cairns, Mackay, Albury) with branch-specific catalog filtering and address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59669"/>
                </a:solidFill>
                <a:latin typeface="Segoe UI"/>
              </a:defRPr>
            </a:pPr>
            <a:r>
              <a:t>02  |  100% SUPPLY ITEM CODE MAPPING MILESTONE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Achieved a major master data milestone: 100% of SPL internal item codes are mapped to vendor catalog SKUs (Simba, Host, etc.), standardizing product specifications nationally.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9333EA"/>
                </a:solidFill>
                <a:latin typeface="Segoe UI"/>
              </a:defRPr>
            </a:pPr>
            <a:r>
              <a:t>03  |  ON-SITE GOODS RECEIPTING (GR) &amp; DOCKET CAPTURE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Warehouse receiving teams capture delivery dockets, quantities received, and receiver signatures digitally, providing the factual bedrock for 3-way invoice matching.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D97706"/>
                </a:solidFill>
                <a:latin typeface="Segoe UI"/>
              </a:defRPr>
            </a:pPr>
            <a:r>
              <a:t>04  |  6-STAGE VISUAL LIFECYCLE &amp; AUDIT TRAIL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End-to-end transparency across Requested -&gt; Approved -&gt; Req Logged -&gt; In Concur -&gt; Delivery -&gt; Closed, capturing timestamps, roles, and decision notes for full audit compliance.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ZERO-DEFECT REQUISITIONING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1: Point-of-Entry Packaging Governance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THE OPERATIONAL CHALLENGE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Arbitrary Requisition Quantities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The Issue: Site staff enter arbitrary numbers (e.g. 5,000 units on a 240 carton size = 20.83 cartons, or 90 on a 100 pack). Suppliers cannot break cartons, forcing Ashish Chhabra to reject orders, email sites, and wait for re-raising.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• Business Impact: Operational delays in linen delivery, unnecessary email loops, and administrative rework for procurement.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THE ENGINEERED SOLUTION &amp; WHY IT WORKS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Live Packaging Modulo &amp; 1-Click Rounding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Live modulo check (quantityOrdered % cartonQty === 0). Hard blocks submission and provides a 1-click 'Round to X units' button (e.g. rounds 5,000 to 5,040 units / 21 cartons).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Why This is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Stops errors before submission rather than catching them days later during approval review.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Frictionless UX: </a:t>
            </a:r>
            <a:r>
              <a:rPr sz="1050">
                <a:solidFill>
                  <a:srgbClr val="475569"/>
                </a:solidFill>
                <a:latin typeface="Segoe UI"/>
              </a:rPr>
              <a:t>The 1-click rounder solves the packaging math instantly for the user.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Zero Procurement Rework: </a:t>
            </a:r>
            <a:r>
              <a:rPr sz="1050">
                <a:solidFill>
                  <a:srgbClr val="475569"/>
                </a:solidFill>
                <a:latin typeface="Segoe UI"/>
              </a:rPr>
              <a:t>Ashish no longer acts as a manual carton calculator, eliminating supplier order rejections.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FINANCIAL INTEGRITY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2: Contract Price Master &amp; Zero Invoice Variances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THE OPERATIONAL CHALLENGE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Manual Price Entry Typos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The Issue: Requesters had free-text price editing access. A single keystroke typo (e.g. keying 61¢ instead of contracted 51¢ for face washers) propagated downstream to the vendor and Concur.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• Business Impact: When the supplier invoiced at the true contracted rate (51¢), automated 3-way matching in finance failed due to a price variance, freezing the invoice and delaying payment.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THE ENGINEERED SOLUTION &amp; WHY IT WORKS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Contract Price Master Validation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Leverages the 100% item mapping milestone. Active contracted supplier catalog rates auto-populate lines; $0.00 prices and unapproved price overrides are strictly blocked.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Why This is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Ensuring PO prices match supplier contracts guarantees clean 3-way matching in finance upon invoice receipt.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Protects Commercial Margin: </a:t>
            </a:r>
            <a:r>
              <a:rPr sz="1050">
                <a:solidFill>
                  <a:srgbClr val="475569"/>
                </a:solidFill>
                <a:latin typeface="Segoe UI"/>
              </a:rPr>
              <a:t>Prevents accidental over-payment or unauthorized supplier price creep.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Zero Downstream Holds: </a:t>
            </a:r>
            <a:r>
              <a:rPr sz="1050">
                <a:solidFill>
                  <a:srgbClr val="475569"/>
                </a:solidFill>
                <a:latin typeface="Segoe UI"/>
              </a:rPr>
              <a:t>Invoices pass through finance without manual investigation emails.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ERP INTEGRATION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3: Mandatory Concur PR # Enforcement &amp; Task Visibility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THE OPERATIONAL CHALLENGE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Missing Concur PR Numbers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The Issue: Staff received physical deliveries on site and completed orders in ProcureFlow without ever returning to log the SAP Concur Purchase Request number (PR #) or PO #.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• Business Impact: Created orphaned records where Concur spend could not be matched against ProcureFlow physical receipts, breaking cross-system audit trails.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THE ENGINEERED SOLUTION &amp; WHY IT WORKS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Mandatory Concur Block &amp; Homepage Center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Hard block on order closure without Concur reference, plus Homepage Action Required center showing pending Concur links on login.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Why This is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Placing the block at the final step of order completion guarantees users capture the Concur reference before the transaction finalizes.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100% ERP Mirroring: </a:t>
            </a:r>
            <a:r>
              <a:rPr sz="1050">
                <a:solidFill>
                  <a:srgbClr val="475569"/>
                </a:solidFill>
                <a:latin typeface="Segoe UI"/>
              </a:rPr>
              <a:t>Every completed order in ProcureFlow has a direct audit mirror in SAP Concur.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Frictionless Navigation: </a:t>
            </a:r>
            <a:r>
              <a:rPr sz="1050">
                <a:solidFill>
                  <a:srgbClr val="475569"/>
                </a:solidFill>
                <a:latin typeface="Segoe UI"/>
              </a:rPr>
              <a:t>Homepage banner provides 1-click navigation directly to pending orders.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ALIGNMENT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4: Automated Lifecycle Notifications &amp; Escalation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THE OPERATIONAL CHALLENGE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Lingering POs &amp; Overdue Shipments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The Issue: Orders 100% received physically sat open in ProcureFlow because users forgot to click 'Complete Order'. Furthermore, undelivered orders sat &gt;14 days past need-by date with zero management visibility.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• Business Impact: Distorted open commitment reports in finance and hidden supplier supply chain bottlenecks.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THE ENGINEERED SOLUTION &amp; WHY IT WORKS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Automated Nudges &amp; Tiered Escalation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Automated daily closure reminders when 100% received; Tiered escalation (&gt;14d to user, &gt;21d copying line managers e.g. David, Ashish, Ebrahim).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Why This is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Closes the operational loop automatically without requiring manual chasing by procurement.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Multi-Channel Reach: </a:t>
            </a:r>
            <a:r>
              <a:rPr sz="1050">
                <a:solidFill>
                  <a:srgbClr val="475569"/>
                </a:solidFill>
                <a:latin typeface="Segoe UI"/>
              </a:rPr>
              <a:t>Delivered via In-App Drawer, Microsoft Graph Email, and MS Teams Adaptive Cards.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Clean Commitments: </a:t>
            </a:r>
            <a:r>
              <a:rPr sz="1050">
                <a:solidFill>
                  <a:srgbClr val="475569"/>
                </a:solidFill>
                <a:latin typeface="Segoe UI"/>
              </a:rPr>
              <a:t>Financial reports reflect only genuinely outstanding shipments.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FINANCIAL INTELLIGENCE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5: Native EOM Spend &amp; Budget Reconciliation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FY27 TOTAL BUDGET</a:t>
            </a:r>
          </a:p>
          <a:p>
            <a:pPr>
              <a:defRPr sz="2000" b="1">
                <a:solidFill>
                  <a:srgbClr val="0284C7"/>
                </a:solidFill>
                <a:latin typeface="Segoe UI"/>
              </a:defRPr>
            </a:pPr>
            <a:r>
              <a:t>$14.521M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Baseline Operating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3864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DEPLETION RUN RATE</a:t>
            </a:r>
          </a:p>
          <a:p>
            <a:pPr>
              <a:defRPr sz="2000" b="1">
                <a:solidFill>
                  <a:srgbClr val="059669"/>
                </a:solidFill>
                <a:latin typeface="Segoe UI"/>
              </a:defRPr>
            </a:pPr>
            <a:r>
              <a:t>$9.921M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$826.8k / Month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NEW BUSINESS POOL</a:t>
            </a:r>
          </a:p>
          <a:p>
            <a:pPr>
              <a:defRPr sz="2000" b="1">
                <a:solidFill>
                  <a:srgbClr val="9333EA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$191.7k / Month Allocation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88552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5712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LINEN HUB DEDICATED</a:t>
            </a:r>
          </a:p>
          <a:p>
            <a:pPr>
              <a:defRPr sz="2000" b="1">
                <a:solidFill>
                  <a:srgbClr val="D97706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Real-Time Decrement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1027145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Why This is the Solution for Executive Leadership: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Automates 3 Days of Work: </a:t>
            </a:r>
            <a:r>
              <a:rPr sz="1050">
                <a:solidFill>
                  <a:srgbClr val="475569"/>
                </a:solidFill>
                <a:latin typeface="Segoe UI"/>
              </a:rPr>
              <a:t>Natively replicates Ashish's Concur EOM Pivot (Branch × Sector × Reason) excluding GST (Total / 1.1) in seconds.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100% Precision Verified: </a:t>
            </a:r>
            <a:r>
              <a:rPr sz="1050">
                <a:solidFill>
                  <a:srgbClr val="475569"/>
                </a:solidFill>
                <a:latin typeface="Segoe UI"/>
              </a:rPr>
              <a:t>Regex classifier achieves verified 100.0% accuracy matching Ashish's historical dataset.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Branch Variance Tracking: </a:t>
            </a:r>
            <a:r>
              <a:rPr sz="1050">
                <a:solidFill>
                  <a:srgbClr val="475569"/>
                </a:solidFill>
                <a:latin typeface="Segoe UI"/>
              </a:rPr>
              <a:t>Tracks monthly actuals and YTD spend vs baseline budgets across all 8 branches (Melbourne $2.65M, Sydney $2.78M, Adelaide $920k, Brisbane $1.03M, Cairns $706k, Mackay $349k, Perth $996k, Albury $481k).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Dedicated Linen Hub Pool: </a:t>
            </a:r>
            <a:r>
              <a:rPr sz="1050">
                <a:solidFill>
                  <a:srgbClr val="475569"/>
                </a:solidFill>
                <a:latin typeface="Segoe UI"/>
              </a:rPr>
              <a:t>Maintains continuous decrement balance tracking against the dedicated $2.30M injection reserve.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Strategic Subcontracts: </a:t>
            </a:r>
            <a:r>
              <a:rPr sz="1050">
                <a:solidFill>
                  <a:srgbClr val="475569"/>
                </a:solidFill>
                <a:latin typeface="Segoe UI"/>
              </a:rPr>
              <a:t>Real-time visibility into HealthShare Victoria (HSV) and Ramsay Health Care (RHC) spend.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Concur Export: </a:t>
            </a:r>
            <a:r>
              <a:rPr sz="1050">
                <a:solidFill>
                  <a:srgbClr val="475569"/>
                </a:solidFill>
                <a:latin typeface="Segoe UI"/>
              </a:rPr>
              <a:t>Generates formatted leadership-ready Excel CSV reconciliation files at a single click.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COMMERCIAL GOVERNANCE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Improvements 6 &amp; 7: SOH Automation &amp; DOA Approval Tiers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SELF-SERVICE SOH DISTRIBUTION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Eliminating Manual Weekly Emailing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The Issue: Procurement manually gathered, reformatted, and emailed weekly vendor inventory spreadsheets across state managers.</a:t>
            </a:r>
          </a:p>
          <a:p>
            <a:pPr>
              <a:spcAft>
                <a:spcPts val="8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The Solution: Automated ingestion of vendor inventory feeds into the live SUPPLIER_INVENTORY dashboard in ProcureFlow.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• Why It Works: Saves hours of administrative time each week and allows state managers to check stock availability before placing orders.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333EA"/>
                </a:solidFill>
                <a:latin typeface="Segoe UI"/>
              </a:defRPr>
            </a:pPr>
            <a:r>
              <a:t>STRUCTURED DOA APPROVAL ENGINE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3-Tier Delegation of Authority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Tier 1 (Site Manager): </a:t>
            </a:r>
            <a:r>
              <a:rPr sz="1000">
                <a:solidFill>
                  <a:srgbClr val="475569"/>
                </a:solidFill>
                <a:latin typeface="Segoe UI"/>
              </a:rPr>
              <a:t>Approves routine weekly depletion spend within local branch limits.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Tier 2 (Ashish Chhabra): </a:t>
            </a:r>
            <a:r>
              <a:rPr sz="1000">
                <a:solidFill>
                  <a:srgbClr val="475569"/>
                </a:solidFill>
                <a:latin typeface="Segoe UI"/>
              </a:rPr>
              <a:t>Procurement Lead audits pack multiples, pricing parity, and spend reason (Depletion vs NB).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Tier 3 (Ebrahim Mokhtari): </a:t>
            </a:r>
            <a:r>
              <a:rPr sz="1000">
                <a:solidFill>
                  <a:srgbClr val="475569"/>
                </a:solidFill>
                <a:latin typeface="Segoe UI"/>
              </a:rPr>
              <a:t>COO approves high-value orders (&gt;$50k), new customer injections, and unbudgeted exceptions.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Why It Works: </a:t>
            </a:r>
            <a:r>
              <a:rPr sz="1000">
                <a:solidFill>
                  <a:srgbClr val="475569"/>
                </a:solidFill>
                <a:latin typeface="Segoe UI"/>
              </a:rPr>
              <a:t>Embeds corporate DOA rules directly into software, displaying GST-inc totals and audit remarks.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ASSURANCE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Summary: Executive Confidence in a Self-Governing Platform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284C7"/>
                </a:solidFill>
                <a:latin typeface="Segoe UI"/>
              </a:defRPr>
            </a:pPr>
            <a:r>
              <a:t>A Working Platform Elevated to Permanent BAU Excellence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Proven Reliability: </a:t>
            </a:r>
            <a:r>
              <a:rPr sz="1100">
                <a:solidFill>
                  <a:srgbClr val="475569"/>
                </a:solidFill>
                <a:latin typeface="Segoe UI"/>
              </a:rPr>
              <a:t>ProcureFlow already manages daily purchasing across 8 laundry sites, 100% of SKUs are mapped, and digital goods receipting is firmly established.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Zero Human Friction: </a:t>
            </a:r>
            <a:r>
              <a:rPr sz="1100">
                <a:solidFill>
                  <a:srgbClr val="475569"/>
                </a:solidFill>
                <a:latin typeface="Segoe UI"/>
              </a:rPr>
              <a:t>Point-of-entry packaging modulo rules and contract price lookups stop requisition errors before submission.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Closed-Loop ERP Parity: </a:t>
            </a:r>
            <a:r>
              <a:rPr sz="1100">
                <a:solidFill>
                  <a:srgbClr val="475569"/>
                </a:solidFill>
                <a:latin typeface="Segoe UI"/>
              </a:rPr>
              <a:t>Mandatory Concur PR # enforcement guarantees 100% 1-to-1 data mirroring between ProcureFlow and SAP Concur.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Proactive Operational Discipline: </a:t>
            </a:r>
            <a:r>
              <a:rPr sz="1100">
                <a:solidFill>
                  <a:srgbClr val="475569"/>
                </a:solidFill>
                <a:latin typeface="Segoe UI"/>
              </a:rPr>
              <a:t>Automated closure nudges and tiered line manager escalations eliminate lingering open commitments and overdue shipments.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Single Source of Truth: </a:t>
            </a:r>
            <a:r>
              <a:rPr sz="1100">
                <a:solidFill>
                  <a:srgbClr val="475569"/>
                </a:solidFill>
                <a:latin typeface="Segoe UI"/>
              </a:rPr>
              <a:t>Real-time 2D Pivot Table and FY27 budget tracking ($14.521M) provide leadership with immediate, unchallengeable financial clarity.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