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STRATEGIC REVIEW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 Master Strategic Roadmap</a:t>
            </a:r>
            <a:br/>
            <a:r>
              <a:t>&amp; Closed-Loop Governance Plan</a:t>
            </a:r>
          </a:p>
          <a:p>
            <a:pPr>
              <a:spcAft>
                <a:spcPts val="3200"/>
              </a:spcAft>
              <a:defRPr sz="1600">
                <a:solidFill>
                  <a:srgbClr val="CBD5E1"/>
                </a:solidFill>
                <a:latin typeface="Segoe UI"/>
              </a:defRPr>
            </a:pPr>
            <a:r>
              <a:t>The Three-Horizon Transformation: From Transactional Ordering to National Operating Backbone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Executive Sponsor: Ebrahim Mokhtari (Chief Operating Officer)</a:t>
            </a:r>
            <a:br/>
            <a:r>
              <a:t>Key Presenters: Ashish Chhabra (Procurement Lead) &amp; Aaron Bell (Tech Lead / Architect)</a:t>
            </a:r>
            <a:br/>
            <a:r>
              <a:t>Schedule: Pre-Alignment 8:30 AM | Executive Leadership Workshop 10:00 AM — Thursday,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BRIEFING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Context: Governance Objectives &amp; Endorsements Sought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STRATEGIC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 Proven, Stable Foundation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Operational Reality: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is NOT a broken system in need of repair; it is a proven national tool active across 11 facilities handling 100% of daily linen POs.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Last 3 Months: </a:t>
            </a:r>
            <a:r>
              <a:rPr sz="1050">
                <a:solidFill>
                  <a:srgbClr val="0F172A"/>
                </a:solidFill>
                <a:latin typeface="Segoe UI"/>
              </a:rPr>
              <a:t>Master catalog cleanup by Aaron, Ashish &amp; Kiran drove supplier linkage from ~50% to 95%–100% compliance.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Operational Stability: </a:t>
            </a:r>
            <a:r>
              <a:rPr sz="1050">
                <a:solidFill>
                  <a:srgbClr val="0F172A"/>
                </a:solidFill>
                <a:latin typeface="Segoe UI"/>
              </a:rPr>
              <a:t>Platform uptime at 99.9% with over 900+ requisitions successfully processed and audited.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98264" y="1463040"/>
            <a:ext cx="338328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CURRENT UPGRADES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1144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Closed-Loop Governance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Point-of-Entry Rules: </a:t>
            </a:r>
            <a:r>
              <a:rPr sz="1050">
                <a:solidFill>
                  <a:srgbClr val="0F172A"/>
                </a:solidFill>
                <a:latin typeface="Segoe UI"/>
              </a:rPr>
              <a:t>Carton modulo enforcement with 1-click smart rounding eliminates vendor rejection loops.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Contract Price Master: </a:t>
            </a:r>
            <a:r>
              <a:rPr sz="1050">
                <a:solidFill>
                  <a:srgbClr val="0F172A"/>
                </a:solidFill>
                <a:latin typeface="Segoe UI"/>
              </a:rPr>
              <a:t>Locks PO rates to negotiated supplier contracts, guaranteeing 100% 3-way invoice matching in Concur.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ERP Compliance: </a:t>
            </a:r>
            <a:r>
              <a:rPr sz="1050">
                <a:solidFill>
                  <a:srgbClr val="0F172A"/>
                </a:solidFill>
                <a:latin typeface="Segoe UI"/>
              </a:rPr>
              <a:t>Mandatory Concur PR # verification prevents order closure until ERP mirroring is established.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Financial Intelligence: </a:t>
            </a:r>
            <a:r>
              <a:rPr sz="1050">
                <a:solidFill>
                  <a:srgbClr val="0F172A"/>
                </a:solidFill>
                <a:latin typeface="Segoe UI"/>
              </a:rPr>
              <a:t>Native EOM reconciliation against the $14.521M FY27 budget eliminates 2–3 days of manual crunch.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65008" y="1463040"/>
            <a:ext cx="3383280" cy="50292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DECISIONS SOUGHT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COO Alignment &amp; Endorsement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Adelaide Expansion: </a:t>
            </a:r>
            <a:r>
              <a:rPr sz="1050">
                <a:solidFill>
                  <a:srgbClr val="0F172A"/>
                </a:solidFill>
                <a:latin typeface="Segoe UI"/>
              </a:rPr>
              <a:t>Approve the 4-phase rollout framework to onboard Adelaide as our 9th regional hub.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Live SOH Protocol: </a:t>
            </a:r>
            <a:r>
              <a:rPr sz="1050">
                <a:solidFill>
                  <a:srgbClr val="0F172A"/>
                </a:solidFill>
                <a:latin typeface="Segoe UI"/>
              </a:rPr>
              <a:t>Endorse a 2-month dual validation window (Sep–Oct) before decommissioning weekly Excel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Training Governance: </a:t>
            </a:r>
            <a:r>
              <a:rPr sz="1050">
                <a:solidFill>
                  <a:srgbClr val="0F172A"/>
                </a:solidFill>
                <a:latin typeface="Segoe UI"/>
              </a:rPr>
              <a:t>Authorize mandatory in-app video completion gating for all ordering personnel.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7E22CE"/>
                </a:solidFill>
                <a:latin typeface="Segoe UI"/>
              </a:rPr>
              <a:t>Short Supply Engine: </a:t>
            </a:r>
            <a:r>
              <a:rPr sz="1050">
                <a:solidFill>
                  <a:srgbClr val="0F172A"/>
                </a:solidFill>
                <a:latin typeface="Segoe UI"/>
              </a:rPr>
              <a:t>Greenlight native migration of external BI/Power Apps logic into ProcureFlow.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TRANSFORMATION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Transformation Journey: Previous State → Current Elevation → Future BAU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50292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PREVIOUS STATE: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Operational Baseline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Where We Started (Pre-Launch to April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Fragmented Ordering: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via phone, paper, and ad-hoc emails without standardized item naming.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Data Ambiguity (~50%): </a:t>
            </a:r>
            <a:r>
              <a:rPr sz="1050">
                <a:solidFill>
                  <a:srgbClr val="0F172A"/>
                </a:solidFill>
                <a:latin typeface="Segoe UI"/>
              </a:rPr>
              <a:t>Only ~50% of ordered lines linked to supplier catalog codes, causing constant manual triage.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Pricing Mismatches: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unit prices triggered 3-way invoice matching failures and frozen supplier payments.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64748B"/>
                </a:solidFill>
                <a:latin typeface="Segoe UI"/>
              </a:rPr>
              <a:t>Manual EOM Burden: </a:t>
            </a:r>
            <a:r>
              <a:rPr sz="1050">
                <a:solidFill>
                  <a:srgbClr val="0F172A"/>
                </a:solidFill>
                <a:latin typeface="Segoe UI"/>
              </a:rPr>
              <a:t>2–3 days spent reconciling Concur exports against branch budgets on spreadsheets.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98264" y="1463040"/>
            <a:ext cx="338328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CURRENT STATE: ELEVATION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81144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Closed-Loop Governance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Delivered Track Record (May to August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Collaborative Overhaul: </a:t>
            </a:r>
            <a:r>
              <a:rPr sz="1050">
                <a:solidFill>
                  <a:srgbClr val="0F172A"/>
                </a:solidFill>
                <a:latin typeface="Segoe UI"/>
              </a:rPr>
              <a:t>Aaron, Ashish &amp; Kiran cleaned master catalog; compliance surged to 95%–100%.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National Scale (11 Sites): </a:t>
            </a:r>
            <a:r>
              <a:rPr sz="1050">
                <a:solidFill>
                  <a:srgbClr val="0F172A"/>
                </a:solidFill>
                <a:latin typeface="Segoe UI"/>
              </a:rPr>
              <a:t>8 primary regional hubs + satellite plants actively running 100% of daily linen POs.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Point-of-Entry Gates: </a:t>
            </a:r>
            <a:r>
              <a:rPr sz="1050">
                <a:solidFill>
                  <a:srgbClr val="0F172A"/>
                </a:solidFill>
                <a:latin typeface="Segoe UI"/>
              </a:rPr>
              <a:t>Automated carton modulo enforcement, contract price locks, and mandatory Concur PR checks.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284C7"/>
                </a:solidFill>
                <a:latin typeface="Segoe UI"/>
              </a:rPr>
              <a:t>Real-Time EOM Engine: </a:t>
            </a:r>
            <a:r>
              <a:rPr sz="1050">
                <a:solidFill>
                  <a:srgbClr val="0F172A"/>
                </a:solidFill>
                <a:latin typeface="Segoe UI"/>
              </a:rPr>
              <a:t>Automated 2D pivot tracking against $14.521M FY27 budget with 100% Concur parity.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5008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65008" y="1463040"/>
            <a:ext cx="33832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FUTURE STATE: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0574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Enterprise BAU Backbone</a:t>
            </a:r>
          </a:p>
          <a:p>
            <a:pPr>
              <a:spcAft>
                <a:spcPts val="1200"/>
              </a:spcAft>
              <a:defRPr sz="1000" i="1">
                <a:solidFill>
                  <a:srgbClr val="64748B"/>
                </a:solidFill>
                <a:latin typeface="Segoe UI"/>
              </a:defRPr>
            </a:pPr>
            <a:r>
              <a:t>Forward Pipeline (September to October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Adelaide Expansion: </a:t>
            </a:r>
            <a:r>
              <a:rPr sz="1050">
                <a:solidFill>
                  <a:srgbClr val="0F172A"/>
                </a:solidFill>
                <a:latin typeface="Segoe UI"/>
              </a:rPr>
              <a:t>Structured 4-phase rollout onboarding Adelaide as our 9th regional hub.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Live SOH Deprecation: </a:t>
            </a:r>
            <a:r>
              <a:rPr sz="1050">
                <a:solidFill>
                  <a:srgbClr val="0F172A"/>
                </a:solidFill>
                <a:latin typeface="Segoe UI"/>
              </a:rPr>
              <a:t>2-month parallel validation to permanently deprecate manual weekly Excel email updates.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Mandatory Video Training: </a:t>
            </a:r>
            <a:r>
              <a:rPr sz="1050">
                <a:solidFill>
                  <a:srgbClr val="0F172A"/>
                </a:solidFill>
                <a:latin typeface="Segoe UI"/>
              </a:rPr>
              <a:t>In-app training video gating with audited digital sign-off before purchasing activation.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59669"/>
                </a:solidFill>
                <a:latin typeface="Segoe UI"/>
              </a:rPr>
              <a:t>Native Short Supply Engine: </a:t>
            </a:r>
            <a:r>
              <a:rPr sz="1050">
                <a:solidFill>
                  <a:srgbClr val="0F172A"/>
                </a:solidFill>
                <a:latin typeface="Segoe UI"/>
              </a:rPr>
              <a:t>Direct mathematical parity replacing external BI/Power Apps tools natively.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BASELINE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Previous State: Operational Realities &amp; Structural Friction 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HISTORICAL OPERATIONAL FRICTION (PRE-LAUNCH / Q1 2026)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1. Disparate Multi-Site Purchasing: </a:t>
            </a:r>
            <a:r>
              <a:rPr sz="1050">
                <a:solidFill>
                  <a:srgbClr val="0F172A"/>
                </a:solidFill>
                <a:latin typeface="Segoe UI"/>
              </a:rPr>
              <a:t>Branches ordered identical linen lines under disparate internal descriptions (e.g. Melbourne 'Queen Sheet' vs Sydney 'Hospital Fitted Sheet'), leading to zero national spend leverage.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2. ~50% Catalog Linkage Ambiguity: </a:t>
            </a:r>
            <a:r>
              <a:rPr sz="1050">
                <a:solidFill>
                  <a:srgbClr val="0F172A"/>
                </a:solidFill>
                <a:latin typeface="Segoe UI"/>
              </a:rPr>
              <a:t>Roughly half of all requisition lines failed to map to supplier codes. Orders arrived at vendors requiring manual phone and email clarification.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3. Packaging Modulo Failures: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odd quantities (e.g. 5,000 face washers instead of 5,040 carton multiple). Vendors either rejected orders or shipped partial cartons, causing site shortages.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4. Downstream Invoice Freezes: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pricing errors in Concur broke 3-way invoice matching in finance, delaying supplier settlements and straining vendor relationships.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THE COST OF FRAGMENTATION TO THE BUSINESS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Procurement Administrative Overhead: </a:t>
            </a:r>
            <a:r>
              <a:rPr sz="1050">
                <a:solidFill>
                  <a:srgbClr val="0F172A"/>
                </a:solidFill>
                <a:latin typeface="Segoe UI"/>
              </a:rPr>
              <a:t>Ashish Chhabra spent up to 15–20 hours each week acting as a manual clearinghouse—validating carton sizes, correcting unit prices, and chasing missing Concur PO numbers.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Audit Trail &amp; Delivery Disconnects: </a:t>
            </a:r>
            <a:r>
              <a:rPr sz="1050">
                <a:solidFill>
                  <a:srgbClr val="0F172A"/>
                </a:solidFill>
                <a:latin typeface="Segoe UI"/>
              </a:rPr>
              <a:t>Without digital goods receipting, physical deliveries could not be verified against vendor delivery dockets, opening exposure to invoice discrepancies.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Month-End Reporting Lag: </a:t>
            </a:r>
            <a:r>
              <a:rPr sz="1050">
                <a:solidFill>
                  <a:srgbClr val="0F172A"/>
                </a:solidFill>
                <a:latin typeface="Segoe UI"/>
              </a:rPr>
              <a:t>Finance and procurement spent 2 to 3 full business days manually merging SAP Concur CSV extracts and facility spreadsheets to produce executive monthly spend figures.</a:t>
            </a:r>
          </a:p>
          <a:p>
            <a:pPr>
              <a:spcAft>
                <a:spcPts val="12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Imperative: </a:t>
            </a:r>
            <a:r>
              <a:rPr sz="1050">
                <a:solidFill>
                  <a:srgbClr val="0F172A"/>
                </a:solidFill>
                <a:latin typeface="Segoe UI"/>
              </a:rPr>
              <a:t>Moving away from fragmented spreadsheets required a single, national, governed operational backbone—delivering data certainty to the COO.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TRACK RECORD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Current State: Proven Track Record Delivered in the Last 3 Months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0120" y="1691640"/>
            <a:ext cx="731520" cy="5486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1645920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Cross-Functional Triad SKU Governance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Dedicated collaboration between Aaron Bell (Tech Lead), Ashish Chhabra (Procurement Lead), and Kiran (Analytics) cleaned SPL's national master data, replacing disparate branch naming with a standardized catalog.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463040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19672" y="1691640"/>
            <a:ext cx="7315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4072" y="1645920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Automated Procurement Email Ingestion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Engineered automated ingestion pipeline directly linked to procurement@splservices.com.au, reading and parsing supplier stock snapshots and pricing files without manual intervention.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4206239"/>
            <a:ext cx="731520" cy="54864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4160519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Active Operations Across 11 Facilities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ProcureFlow runs 100% of daily linen POs across 8 primary regional hubs (Melbourne, Sydney, Brisbane, Perth, Adelaide, Cairns, Mackay, Albury) plus satellite facilities with 99.9%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3977639"/>
            <a:ext cx="516636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19672" y="4206239"/>
            <a:ext cx="731520" cy="54864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4072" y="4160519"/>
            <a:ext cx="38404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Digital Goods Receipting (GR) &amp; Dockets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Warehouse receivers capture real-time quantities, carrier dockets, and receiving signatures on mobile terminals, establishing the factual bedrock for automated 3-way invoice matching.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DATA INTEGRITY BENCHMARK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Measurable Proof of Stability: Supplier Linkage Surges to 95%–100%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E11D48"/>
                </a:solidFill>
                <a:latin typeface="Segoe UI"/>
              </a:defRPr>
            </a:pPr>
            <a:r>
              <a:t>BEFORE TRIAD OVERHAUL (FEB – APR 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057400"/>
            <a:ext cx="4709160" cy="8686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E11D48"/>
                </a:solidFill>
                <a:latin typeface="Segoe UI"/>
              </a:defRPr>
            </a:pPr>
            <a:r>
              <a:t>~50% LINKAGE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 in 2 Items Unlinked: </a:t>
            </a:r>
            <a:r>
              <a:rPr sz="1050">
                <a:solidFill>
                  <a:srgbClr val="0F172A"/>
                </a:solidFill>
                <a:latin typeface="Segoe UI"/>
              </a:rPr>
              <a:t>Roughly 50% of ordered line items did not resolve to a verified supplier SKU in Simba or Host catalogs.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Manual Vendor Queries: </a:t>
            </a:r>
            <a:r>
              <a:rPr sz="1050">
                <a:solidFill>
                  <a:srgbClr val="0F172A"/>
                </a:solidFill>
                <a:latin typeface="Segoe UI"/>
              </a:rPr>
              <a:t>Suppliers frequently phoned or emailed procurement to clarify item specifications before manufacturing or packing.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Inconsistent Branch Units: </a:t>
            </a:r>
            <a:r>
              <a:rPr sz="1050">
                <a:solidFill>
                  <a:srgbClr val="0F172A"/>
                </a:solidFill>
                <a:latin typeface="Segoe UI"/>
              </a:rPr>
              <a:t>Sites ordered in varying unit measurements (pieces, dozens, packs) creating stock discrepancy on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CURRENT OPERATIONAL STATE (MAY – AUG 2026)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19672" y="2057400"/>
            <a:ext cx="4709160" cy="868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95% – 100% LINKAGE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306324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Verified Supplier Catalogs: </a:t>
            </a:r>
            <a:r>
              <a:rPr sz="1050">
                <a:solidFill>
                  <a:srgbClr val="0F172A"/>
                </a:solidFill>
                <a:latin typeface="Segoe UI"/>
              </a:rPr>
              <a:t>Simba and Host linen catalogs achieve 95%–100% active SKU mapping. Only rare specialty items require manual mapping.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Ingestion Active: </a:t>
            </a:r>
            <a:r>
              <a:rPr sz="1050">
                <a:solidFill>
                  <a:srgbClr val="0F172A"/>
                </a:solidFill>
                <a:latin typeface="Segoe UI"/>
              </a:rPr>
              <a:t>Catalog additions and inventory reports feed directly into ProcureFlow with continuous alias normalization.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Evidence: </a:t>
            </a:r>
            <a:r>
              <a:rPr sz="1050">
                <a:solidFill>
                  <a:srgbClr val="0F172A"/>
                </a:solidFill>
                <a:latin typeface="Segoe UI"/>
              </a:rPr>
              <a:t>Concrete mathematical evidence for the COO that data integrity is stabilized and ready for national governance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REQUISITION INTEGRITY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Closed-Loop Governance: Point-of-Entry Packaging &amp; Pricing Enforcement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1. CARTON MODULO &amp; 1-CLICK SMART ROUNDING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Operational Failure Eliminated: </a:t>
            </a:r>
            <a:r>
              <a:rPr sz="1050">
                <a:solidFill>
                  <a:srgbClr val="0F172A"/>
                </a:solidFill>
                <a:latin typeface="Segoe UI"/>
              </a:rPr>
              <a:t>Requesters historically entered arbitrary quantities that broke supplier packaging rules, triggering vendor rejections and back-and-forth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Point-of-Entry Enforcement: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executes live modulo arithmetic (quantityOrdered % cartonQty == 0). PO submission is blocked if carton rules are violated.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Smart Rounding: </a:t>
            </a:r>
            <a:r>
              <a:rPr sz="1050">
                <a:solidFill>
                  <a:srgbClr val="0F172A"/>
                </a:solidFill>
                <a:latin typeface="Segoe UI"/>
              </a:rPr>
              <a:t>Instead of showing a passive error, an interactive button prompts users to round instantly (e.g. 'Round to 5,040 units'), solving the issue frictionless in 1 click.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Business Outcome: </a:t>
            </a:r>
            <a:r>
              <a:rPr sz="1050">
                <a:solidFill>
                  <a:srgbClr val="0F172A"/>
                </a:solidFill>
                <a:latin typeface="Segoe UI"/>
              </a:rPr>
              <a:t>Zero vendor packaging rejections. Ashish Chhabra is freed from acting as a manual carton calculator.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2. CONTRACT PRICING &amp; INVOICE MATCHING PARITY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The Concur Matching Vulnerability: </a:t>
            </a:r>
            <a:r>
              <a:rPr sz="1050">
                <a:solidFill>
                  <a:srgbClr val="0F172A"/>
                </a:solidFill>
                <a:latin typeface="Segoe UI"/>
              </a:rPr>
              <a:t>Manual free-text unit prices allowed minor typos (e.g. 61¢ vs contracted 51¢) to propagate downstream to Concur, freezing 3-way invoice matching in finance.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Master Price Locking: </a:t>
            </a:r>
            <a:r>
              <a:rPr sz="1050">
                <a:solidFill>
                  <a:srgbClr val="0F172A"/>
                </a:solidFill>
                <a:latin typeface="Segoe UI"/>
              </a:rPr>
              <a:t>ProcureFlow auto-populates unit prices from active contracted supplier catalogs. Manual price overrides and $0.00 entries are strictly blocked.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Commercial Margin Protection: </a:t>
            </a:r>
            <a:r>
              <a:rPr sz="1050">
                <a:solidFill>
                  <a:srgbClr val="0F172A"/>
                </a:solidFill>
                <a:latin typeface="Segoe UI"/>
              </a:rPr>
              <a:t>Guarantees SPL pays exactly contracted rates, preventing unauthorized price creep or billing drift.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Business Outcome: </a:t>
            </a:r>
            <a:r>
              <a:rPr sz="1050">
                <a:solidFill>
                  <a:srgbClr val="0F172A"/>
                </a:solidFill>
                <a:latin typeface="Segoe UI"/>
              </a:rPr>
              <a:t>100% clean 3-way invoice matching in finance upon supplier invoice arrival, ending frozen payment bottlenecks.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ERP INTEGRATION &amp; VELOCITY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Enterprise ERP Integration: Mandatory Concur PR Linking &amp; Task Visibility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MANDATORY SAP CONCUR PR # ENFORCEMENT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The Audit Blindspot Solved: </a:t>
            </a:r>
            <a:r>
              <a:rPr sz="1050">
                <a:solidFill>
                  <a:srgbClr val="0F172A"/>
                </a:solidFill>
                <a:latin typeface="Segoe UI"/>
              </a:rPr>
              <a:t>Site users previously completed orders in ProcureFlow without entering the SAP Concur Request PR #, breaking ERP auditability and financial reconciliation.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Hard Closure Gate: </a:t>
            </a:r>
            <a:r>
              <a:rPr sz="1050">
                <a:solidFill>
                  <a:srgbClr val="0F172A"/>
                </a:solidFill>
                <a:latin typeface="Segoe UI"/>
              </a:rPr>
              <a:t>Order completion and final closure are strictly blocked in PODetail.tsx until a valid Concur Reference (PR # or Concur PO #) is entered.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ERP Mirroring: </a:t>
            </a:r>
            <a:r>
              <a:rPr sz="1050">
                <a:solidFill>
                  <a:srgbClr val="0F172A"/>
                </a:solidFill>
                <a:latin typeface="Segoe UI"/>
              </a:rPr>
              <a:t>Guarantees every physical linen delivery in ProcureFlow is paired with an audit-ready SAP Concur record, enabling automated month-end reconciliation.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Closure Nudges: </a:t>
            </a:r>
            <a:r>
              <a:rPr sz="1050">
                <a:solidFill>
                  <a:srgbClr val="0F172A"/>
                </a:solidFill>
                <a:latin typeface="Segoe UI"/>
              </a:rPr>
              <a:t>Daily automated notifications trigger when 100% of goods are receipted, prompting users to finalize orders.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7E22CE"/>
                </a:solidFill>
                <a:latin typeface="Segoe UI"/>
              </a:defRPr>
            </a:pPr>
            <a:r>
              <a:t>HOMEPAGE ACTION CENTER &amp; ESCALATION HIERARCHY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Action Center: </a:t>
            </a:r>
            <a:r>
              <a:rPr sz="1050">
                <a:solidFill>
                  <a:srgbClr val="0F172A"/>
                </a:solidFill>
                <a:latin typeface="Segoe UI"/>
              </a:rPr>
              <a:t>Home dashboard displays 3 live action tiles focusing immediate user attention: (1) Log Concur PR #, (2) Ready for Order Closure, (3) Overdue Deliveries.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Workflow Navigation: </a:t>
            </a:r>
            <a:r>
              <a:rPr sz="1050">
                <a:solidFill>
                  <a:srgbClr val="0F172A"/>
                </a:solidFill>
                <a:latin typeface="Segoe UI"/>
              </a:rPr>
              <a:t>Clicking any tile deep-links the user directly to the filtered purchase orders requiring action, eliminating navigation friction.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Tiered Overdue Escalation (&gt;14 Days): </a:t>
            </a:r>
            <a:r>
              <a:rPr sz="1050">
                <a:solidFill>
                  <a:srgbClr val="0F172A"/>
                </a:solidFill>
                <a:latin typeface="Segoe UI"/>
              </a:rPr>
              <a:t>Orders stalled past need-by date trigger automated alerts; shipments past Day 21 automatically escalate copying regional managers (e.g. David) and executive leadership (Ashish &amp; Eb).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Multi-Facility Attribution: </a:t>
            </a:r>
            <a:r>
              <a:rPr sz="1050">
                <a:solidFill>
                  <a:srgbClr val="0F172A"/>
                </a:solidFill>
                <a:latin typeface="Segoe UI"/>
              </a:rPr>
              <a:t>Linen deliveries ordered centrally for satellite hubs (e.g. Albury, satellite plants) are accurately mapped to the consuming plant budget.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SPEND ANALYTICS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Financial Intelligence: Native EOM Spend &amp; Budget Reconciliation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2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DEPLETION RUN RATE</a:t>
            </a:r>
          </a:p>
          <a:p>
            <a:pPr>
              <a:defRPr sz="22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$826.8k / Month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200" b="1">
                <a:solidFill>
                  <a:srgbClr val="7E22CE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$191.7k / Month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72768"/>
            <a:ext cx="219456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2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900">
                <a:solidFill>
                  <a:srgbClr val="0F172A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16636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4709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NATIVE 2D PIVOT &amp; AUTOMATED CSV EXPORT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Eliminates 2–3 Days Manual Crunch: </a:t>
            </a:r>
            <a:r>
              <a:rPr sz="1000">
                <a:solidFill>
                  <a:srgbClr val="0F172A"/>
                </a:solidFill>
                <a:latin typeface="Segoe UI"/>
              </a:rPr>
              <a:t>Replaced manual manipulation of Concur CSV files with real-time in-app multi-dimensional aggregation.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Multi-Dimensional Matrix: </a:t>
            </a:r>
            <a:r>
              <a:rPr sz="1000">
                <a:solidFill>
                  <a:srgbClr val="0F172A"/>
                </a:solidFill>
                <a:latin typeface="Segoe UI"/>
              </a:rPr>
              <a:t>Pivots actual spend by Branch (Melbourne, Sydney, Brisbane, Perth, Adelaide, etc.) × Sector (Accommodation vs Healthcare) × Category (Sheets, Towels, Incontinence, Thermal, etc.).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1-Click Executive Concur Export: </a:t>
            </a:r>
            <a:r>
              <a:rPr sz="1000">
                <a:solidFill>
                  <a:srgbClr val="0F172A"/>
                </a:solidFill>
                <a:latin typeface="Segoe UI"/>
              </a:rPr>
              <a:t>Generates audit-ready CSV exports mapped to SAP Concur GL structures with exact ex-GST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2926080"/>
            <a:ext cx="5166360" cy="3383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3108960"/>
            <a:ext cx="4709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 RECONCILIATION PARITY VERIFIED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Mathematical Parity Tested: </a:t>
            </a:r>
            <a:r>
              <a:rPr sz="1000">
                <a:solidFill>
                  <a:srgbClr val="0F172A"/>
                </a:solidFill>
                <a:latin typeface="Segoe UI"/>
              </a:rPr>
              <a:t>Engine logic tested against Ashish Chhabra's master reconciliation workbook ('Aaron File Concur Data 28.08.2026.xls') with 100% match.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52/52 Record Verification: </a:t>
            </a:r>
            <a:r>
              <a:rPr sz="1000">
                <a:solidFill>
                  <a:srgbClr val="0F172A"/>
                </a:solidFill>
                <a:latin typeface="Segoe UI"/>
              </a:rPr>
              <a:t>All 52 historical August test records classified with zero errors; ex-GST totals matched Concur actuals to the cent.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Contract Breakout Tracking: </a:t>
            </a:r>
            <a:r>
              <a:rPr sz="1000">
                <a:solidFill>
                  <a:srgbClr val="0F172A"/>
                </a:solidFill>
                <a:latin typeface="Segoe UI"/>
              </a:rPr>
              <a:t>Real-time tracking of HealthShare Victoria (HSV) and Ramsay Health Care (RHC) contract drawdowns.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FORWARD SCALING ROADMAP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Future State: Horizon 3 Strategic Forward Pipeline (Next 2 Months)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1. LIVE SOH VALIDATION &amp; EMAIL DEPRECATION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2-Month Dual Validation Window: </a:t>
            </a:r>
            <a:r>
              <a:rPr sz="1050">
                <a:solidFill>
                  <a:srgbClr val="0F172A"/>
                </a:solidFill>
                <a:latin typeface="Segoe UI"/>
              </a:rPr>
              <a:t>Ashish Chhabra and Aaron Bell will run parallel checks across September and October 2026 comparing in-app feeds against vendor email spreadsheets.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Full Email Deprecation Gate: </a:t>
            </a:r>
            <a:r>
              <a:rPr sz="1050">
                <a:solidFill>
                  <a:srgbClr val="0F172A"/>
                </a:solidFill>
                <a:latin typeface="Segoe UI"/>
              </a:rPr>
              <a:t>Upon achieving 100% data parity across two full billing cycles, manual weekly emailing of Simba and Host SOH reports will be formally deprecated.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Single Source of Inventory Truth: </a:t>
            </a:r>
            <a:r>
              <a:rPr sz="1050">
                <a:solidFill>
                  <a:srgbClr val="0F172A"/>
                </a:solidFill>
                <a:latin typeface="Segoe UI"/>
              </a:rPr>
              <a:t>Branch managers will rely solely on ProcureFlow's live supplier inventory view, eliminating fragmented spreadsheets.</a:t>
            </a:r>
          </a:p>
          <a:p>
            <a:pPr>
              <a:spcAft>
                <a:spcPts val="800"/>
              </a:spcAft>
              <a:defRPr sz="1100" b="1">
                <a:solidFill>
                  <a:srgbClr val="7E22CE"/>
                </a:solidFill>
                <a:latin typeface="Segoe UI"/>
              </a:defRPr>
            </a:pPr>
            <a:r>
              <a:t>2. MANDATORY USER TRAINING VIDEO GOVERNANCE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In-App Training Module: </a:t>
            </a:r>
            <a:r>
              <a:rPr sz="1050">
                <a:solidFill>
                  <a:srgbClr val="0F172A"/>
                </a:solidFill>
                <a:latin typeface="Segoe UI"/>
              </a:rPr>
              <a:t>Interactive video covering carton modulo rules, contract pricing, and Concur PR # entry presented to requesters upon login.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Digital Sign-Off Gating: </a:t>
            </a:r>
            <a:r>
              <a:rPr sz="1050">
                <a:solidFill>
                  <a:srgbClr val="0F172A"/>
                </a:solidFill>
                <a:latin typeface="Segoe UI"/>
              </a:rPr>
              <a:t>Purchasing and approval permissions will remain locked until the user confirms completion, creating an auditable compliance record.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 NATIVE SHORT SUPPLY LOGIC MIGRATION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Decommissioning External Tools: </a:t>
            </a:r>
            <a:r>
              <a:rPr sz="1050">
                <a:solidFill>
                  <a:srgbClr val="0F172A"/>
                </a:solidFill>
                <a:latin typeface="Segoe UI"/>
              </a:rPr>
              <a:t>Migrate short supply calculations from external Power BI and Power Apps directly into native ProcureFlow architecture.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Parity Availability Algorithm: </a:t>
            </a:r>
            <a:r>
              <a:rPr sz="1050">
                <a:solidFill>
                  <a:srgbClr val="0F172A"/>
                </a:solidFill>
                <a:latin typeface="Segoe UI"/>
              </a:rPr>
              <a:t>Cross-references live supplier stock against committed laundry demand, giving branch managers instant visibility into shortfalls.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Proactive Substitution Workflows: </a:t>
            </a:r>
            <a:r>
              <a:rPr sz="1050">
                <a:solidFill>
                  <a:srgbClr val="0F172A"/>
                </a:solidFill>
                <a:latin typeface="Segoe UI"/>
              </a:rPr>
              <a:t>Enables 1-click alternative SKU substitution when vendor line items are in short supply.</a:t>
            </a:r>
          </a:p>
          <a:p>
            <a:pPr>
              <a:spcAft>
                <a:spcPts val="8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4. OMNICHANNEL APPROVALS &amp; ESCALATIONS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Microsoft Teams Adaptive Cards (v1.4): </a:t>
            </a:r>
            <a:r>
              <a:rPr sz="1050">
                <a:solidFill>
                  <a:srgbClr val="0F172A"/>
                </a:solidFill>
                <a:latin typeface="Segoe UI"/>
              </a:rPr>
              <a:t>Interactive approval cards delivered directly to managers in Microsoft Teams, allowing 1-click order authorization.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Microsoft Graph Email Alerts: </a:t>
            </a:r>
            <a:r>
              <a:rPr sz="1050">
                <a:solidFill>
                  <a:srgbClr val="0F172A"/>
                </a:solidFill>
                <a:latin typeface="Segoe UI"/>
              </a:rPr>
              <a:t>High-priority email notifications with direct deep-links for urgent requisitions and Tier 2 overdue delivery escalations.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SITE ROLLOUT FRAMEWORK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Site Expansion Blueprint: Adelaide 4-Phase Implementation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PHASE 1 (WEEK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Master Setup &amp; Accounts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Delivery Addresses: </a:t>
            </a:r>
            <a:r>
              <a:rPr sz="1000">
                <a:solidFill>
                  <a:srgbClr val="0F172A"/>
                </a:solidFill>
                <a:latin typeface="Segoe UI"/>
              </a:rPr>
              <a:t>Configure Adelaide primary hub &amp; satellite plant addresses.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Vendor Linking: </a:t>
            </a:r>
            <a:r>
              <a:rPr sz="1000">
                <a:solidFill>
                  <a:srgbClr val="0F172A"/>
                </a:solidFill>
                <a:latin typeface="Segoe UI"/>
              </a:rPr>
              <a:t>Set up Adelaide-specific Simba &amp; Host supplier account codes.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Catalog Schedules: </a:t>
            </a:r>
            <a:r>
              <a:rPr sz="1000">
                <a:solidFill>
                  <a:srgbClr val="0F172A"/>
                </a:solidFill>
                <a:latin typeface="Segoe UI"/>
              </a:rPr>
              <a:t>Calibrate local state pricing and freight rules.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284C7"/>
                </a:solidFill>
                <a:latin typeface="Segoe UI"/>
              </a:rPr>
              <a:t>User Accounts: </a:t>
            </a:r>
            <a:r>
              <a:rPr sz="1000">
                <a:solidFill>
                  <a:srgbClr val="0F172A"/>
                </a:solidFill>
                <a:latin typeface="Segoe UI"/>
              </a:rPr>
              <a:t>Provision Plant Manager, Requesters, and Receivers.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3864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83864" y="1463040"/>
            <a:ext cx="2468880" cy="50292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PHASE 2 (WEEK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21024" y="205740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Governance &amp; Video Sign-Off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7E22CE"/>
                </a:solidFill>
                <a:latin typeface="Segoe UI"/>
              </a:rPr>
              <a:t>Video Rollout: </a:t>
            </a:r>
            <a:r>
              <a:rPr sz="1000">
                <a:solidFill>
                  <a:srgbClr val="0F172A"/>
                </a:solidFill>
                <a:latin typeface="Segoe UI"/>
              </a:rPr>
              <a:t>Mandatory training module assigned to Adelaide staff.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7E22CE"/>
                </a:solidFill>
                <a:latin typeface="Segoe UI"/>
              </a:rPr>
              <a:t>Digital Sign-Off: </a:t>
            </a:r>
            <a:r>
              <a:rPr sz="1000">
                <a:solidFill>
                  <a:srgbClr val="0F172A"/>
                </a:solidFill>
                <a:latin typeface="Segoe UI"/>
              </a:rPr>
              <a:t>Requesters complete in-app confirmation before ordering.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7E22CE"/>
                </a:solidFill>
                <a:latin typeface="Segoe UI"/>
              </a:rPr>
              <a:t>Procurement Alignment: </a:t>
            </a:r>
            <a:r>
              <a:rPr sz="1000">
                <a:solidFill>
                  <a:srgbClr val="0F172A"/>
                </a:solidFill>
                <a:latin typeface="Segoe UI"/>
              </a:rPr>
              <a:t>Operational walk-through session with Ashish Chhabra.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7E22CE"/>
                </a:solidFill>
                <a:latin typeface="Segoe UI"/>
              </a:rPr>
              <a:t>Receiving Alignment: </a:t>
            </a:r>
            <a:r>
              <a:rPr sz="1000">
                <a:solidFill>
                  <a:srgbClr val="0F172A"/>
                </a:solidFill>
                <a:latin typeface="Segoe UI"/>
              </a:rPr>
              <a:t>Mobile Goods Receipting training for floor receivers.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463040"/>
            <a:ext cx="2468880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PHASE 3 (WEEKS 3–4)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05740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Shadow POs &amp; DOA Calibration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Parallel Shadow Runs: </a:t>
            </a:r>
            <a:r>
              <a:rPr sz="1000">
                <a:solidFill>
                  <a:srgbClr val="0F172A"/>
                </a:solidFill>
                <a:latin typeface="Segoe UI"/>
              </a:rPr>
              <a:t>Adelaide runs dual ordering alongside legacy channels.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Modulo Testing: </a:t>
            </a:r>
            <a:r>
              <a:rPr sz="1000">
                <a:solidFill>
                  <a:srgbClr val="0F172A"/>
                </a:solidFill>
                <a:latin typeface="Segoe UI"/>
              </a:rPr>
              <a:t>Verify carton rounding and contract price locks on live orders.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DOA Approval Limits: </a:t>
            </a:r>
            <a:r>
              <a:rPr sz="1000">
                <a:solidFill>
                  <a:srgbClr val="0F172A"/>
                </a:solidFill>
                <a:latin typeface="Segoe UI"/>
              </a:rPr>
              <a:t>Validate 3-tier escalation limits for Adelaide management.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D97706"/>
                </a:solidFill>
                <a:latin typeface="Segoe UI"/>
              </a:rPr>
              <a:t>Exception Handling: </a:t>
            </a:r>
            <a:r>
              <a:rPr sz="1000">
                <a:solidFill>
                  <a:srgbClr val="0F172A"/>
                </a:solidFill>
                <a:latin typeface="Segoe UI"/>
              </a:rPr>
              <a:t>Refine local delivery docket capture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88552" y="1463040"/>
            <a:ext cx="24688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88552" y="1463040"/>
            <a:ext cx="2468880" cy="5029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PHASE 4 (WEEK 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05740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Full Live Cutover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100% System Cutover: </a:t>
            </a:r>
            <a:r>
              <a:rPr sz="1000">
                <a:solidFill>
                  <a:srgbClr val="0F172A"/>
                </a:solidFill>
                <a:latin typeface="Segoe UI"/>
              </a:rPr>
              <a:t>100% of Adelaide linen purchasing routed through ProcureFlow.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Concur PR Enforced: </a:t>
            </a:r>
            <a:r>
              <a:rPr sz="1000">
                <a:solidFill>
                  <a:srgbClr val="0F172A"/>
                </a:solidFill>
                <a:latin typeface="Segoe UI"/>
              </a:rPr>
              <a:t>Mandatory Concur PR linkage enforced on all closed POs.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Channel Decommissioning: </a:t>
            </a:r>
            <a:r>
              <a:rPr sz="1000">
                <a:solidFill>
                  <a:srgbClr val="0F172A"/>
                </a:solidFill>
                <a:latin typeface="Segoe UI"/>
              </a:rPr>
              <a:t>Decommission legacy paper, phone, and spreadsheet ordering.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059669"/>
                </a:solidFill>
                <a:latin typeface="Segoe UI"/>
              </a:rPr>
              <a:t>EOM Reconciliation: </a:t>
            </a:r>
            <a:r>
              <a:rPr sz="1000">
                <a:solidFill>
                  <a:srgbClr val="0F172A"/>
                </a:solidFill>
                <a:latin typeface="Segoe UI"/>
              </a:rPr>
              <a:t>Adelaide spend actively tracking in native monthly 2D pivot.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Endorsements Sought &amp; Implementation Cadence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EXECUTIVE ENDORSEMENTS SOUGHT (EBRAHIM MOKHTARI, COO)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1. Adelaide Rollout Framework: </a:t>
            </a:r>
            <a:r>
              <a:rPr sz="1050">
                <a:solidFill>
                  <a:srgbClr val="0F172A"/>
                </a:solidFill>
                <a:latin typeface="Segoe UI"/>
              </a:rPr>
              <a:t>Endorsement of the 4-phase structured implementation model to expand ProcureFlow to Adelaide operations.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2. Live SOH Dual Testing Window: </a:t>
            </a:r>
            <a:r>
              <a:rPr sz="1050">
                <a:solidFill>
                  <a:srgbClr val="0F172A"/>
                </a:solidFill>
                <a:latin typeface="Segoe UI"/>
              </a:rPr>
              <a:t>Approval of the 2-month validation protocol (Sep–Oct 2026) before issuing operational directive deprecating supplier spreadsheet emails.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3. Mandatory Video Training Gating: </a:t>
            </a:r>
            <a:r>
              <a:rPr sz="1050">
                <a:solidFill>
                  <a:srgbClr val="0F172A"/>
                </a:solidFill>
                <a:latin typeface="Segoe UI"/>
              </a:rPr>
              <a:t>Authorization to require mandatory in-app video sign-off before granting purchasing access across all sites.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4. Production Branch Merge: </a:t>
            </a:r>
            <a:r>
              <a:rPr sz="1050">
                <a:solidFill>
                  <a:srgbClr val="0F172A"/>
                </a:solidFill>
                <a:latin typeface="Segoe UI"/>
              </a:rPr>
              <a:t>Approval to merge verified feature branch into master production following workshop alignment.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51663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9672" y="1691640"/>
            <a:ext cx="4709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ALIGNMENT CADENCE &amp; KEY MILESTONES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Pre-Workshop Strategy Catch-Up: </a:t>
            </a:r>
            <a:r>
              <a:rPr sz="1050">
                <a:solidFill>
                  <a:srgbClr val="0F172A"/>
                </a:solidFill>
                <a:latin typeface="Segoe UI"/>
              </a:rPr>
              <a:t>Thursday, Sep 3, 2026 (8:30 AM – 9:00 AM) — Aaron Bell &amp; Ashish Chhabra final alignment.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Executive Leadership Workshop: </a:t>
            </a:r>
            <a:r>
              <a:rPr sz="1050">
                <a:solidFill>
                  <a:srgbClr val="0F172A"/>
                </a:solidFill>
                <a:latin typeface="Segoe UI"/>
              </a:rPr>
              <a:t>Thursday, Sep 3, 2026 (10:00 AM) — Ebrahim Mokhtari (COO), Ashish Chhabra &amp; Aaron Bell.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September 2026 (Month 1): </a:t>
            </a:r>
            <a:r>
              <a:rPr sz="1050">
                <a:solidFill>
                  <a:srgbClr val="0F172A"/>
                </a:solidFill>
                <a:latin typeface="Segoe UI"/>
              </a:rPr>
              <a:t>Adelaide Phase 1–2 master setup; launch SOH dual validation with Simba &amp; Host.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October 2026 (Month 2): </a:t>
            </a:r>
            <a:r>
              <a:rPr sz="1050">
                <a:solidFill>
                  <a:srgbClr val="0F172A"/>
                </a:solidFill>
                <a:latin typeface="Segoe UI"/>
              </a:rPr>
              <a:t>Adelaide full live cutover; SOH email deprecation; Short Supply engine migration build.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Production Code Base: </a:t>
            </a:r>
            <a:r>
              <a:rPr sz="1050">
                <a:solidFill>
                  <a:srgbClr val="0F172A"/>
                </a:solidFill>
                <a:latin typeface="Segoe UI"/>
              </a:rPr>
              <a:t>Feature branch feature/eom-budget-governance-improvements verified with clean build (0 errors).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