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628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200" b="1">
                <a:solidFill>
                  <a:srgbClr val="0EA5E9"/>
                </a:solidFill>
                <a:latin typeface="Segoe UI"/>
              </a:defRPr>
            </a:pPr>
            <a:r>
              <a:t>SOUTH PACIFIC LAUNDRY  |  EXECUTIVE REVIEW</a:t>
            </a:r>
          </a:p>
          <a:p>
            <a:pPr>
              <a:spcAft>
                <a:spcPts val="1600"/>
              </a:spcAft>
              <a:defRPr sz="3600" b="1">
                <a:solidFill>
                  <a:srgbClr val="FFFFFF"/>
                </a:solidFill>
                <a:latin typeface="Segoe UI"/>
              </a:defRPr>
            </a:pPr>
            <a:r>
              <a:t>ProcureFlow: Operational Achievements,</a:t>
            </a:r>
            <a:br/>
            <a:r>
              <a:t>Governance &amp; Strategic Forward Pipeline</a:t>
            </a:r>
          </a:p>
          <a:p>
            <a:pPr>
              <a:spcAft>
                <a:spcPts val="3600"/>
              </a:spcAft>
              <a:defRPr sz="1400">
                <a:solidFill>
                  <a:srgbClr val="94A3B8"/>
                </a:solidFill>
                <a:latin typeface="Segoe UI"/>
              </a:defRPr>
            </a:pPr>
            <a:r>
              <a:t>Completed Achievements (Last 3 Months)  •  Targeted Elevation  •  Forward Pipeline (Next 2 Months)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12064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0EA5E9"/>
                </a:solidFill>
                <a:latin typeface="Segoe UI"/>
              </a:defRPr>
            </a:pPr>
            <a:r>
              <a:t>EXECUTIVE COMMITTEE &amp; MEETING ALIGNMENT:</a:t>
            </a:r>
          </a:p>
          <a:p>
            <a:pPr>
              <a:defRPr sz="1250" b="1">
                <a:solidFill>
                  <a:srgbClr val="FFFFFF"/>
                </a:solidFill>
                <a:latin typeface="Segoe UI"/>
              </a:defRPr>
            </a:pPr>
            <a:r>
              <a:t>Ebrahim Mokhtari (COO)   |   Ashish Chhabra (Procurement Lead)   |   Aaron Bell (Tech Lead)</a:t>
            </a:r>
            <a:br/>
            <a:r>
              <a:t>Executive Workshop: Thursday, September 3, 2026 @ 10:00 AM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284C7"/>
                </a:solidFill>
                <a:latin typeface="Segoe UI"/>
              </a:defRPr>
            </a:pPr>
            <a:r>
              <a:t>STRATEGIC ALIGNMENT</a:t>
            </a:r>
          </a:p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Strategic Mindset: Elevating a Working Operational Platform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3328416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691640"/>
            <a:ext cx="2871216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0284C7"/>
                </a:solidFill>
                <a:latin typeface="Segoe UI"/>
              </a:defRPr>
            </a:pPr>
            <a:r>
              <a:t>1. WORKING PLATFORM</a:t>
            </a:r>
          </a:p>
          <a:p>
            <a:pPr>
              <a:spcAft>
                <a:spcPts val="1400"/>
              </a:spcAft>
              <a:defRPr sz="1600" b="1">
                <a:solidFill>
                  <a:srgbClr val="0F172A"/>
                </a:solidFill>
                <a:latin typeface="Segoe UI"/>
              </a:defRPr>
            </a:pPr>
            <a:r>
              <a:t>Proven Daily Engine</a:t>
            </a:r>
          </a:p>
          <a:p>
            <a:pPr>
              <a:spcAft>
                <a:spcPts val="1000"/>
              </a:spcAft>
            </a:pPr>
            <a:r>
              <a:rPr sz="1050">
                <a:solidFill>
                  <a:srgbClr val="334155"/>
                </a:solidFill>
                <a:latin typeface="Segoe UI"/>
              </a:rPr>
              <a:t>• Runs daily purchasing across 11 operating facilities nationally.</a:t>
            </a:r>
          </a:p>
          <a:p>
            <a:pPr>
              <a:spcAft>
                <a:spcPts val="1000"/>
              </a:spcAft>
            </a:pPr>
            <a:r>
              <a:rPr sz="1050">
                <a:solidFill>
                  <a:srgbClr val="334155"/>
                </a:solidFill>
                <a:latin typeface="Segoe UI"/>
              </a:rPr>
              <a:t>• 100% SKU mapping achieved by Aaron Bell, Ashish Chhabra &amp; Kiran.</a:t>
            </a:r>
          </a:p>
          <a:p>
            <a:pPr>
              <a:spcAft>
                <a:spcPts val="1000"/>
              </a:spcAft>
            </a:pPr>
            <a:r>
              <a:rPr sz="1050">
                <a:solidFill>
                  <a:srgbClr val="334155"/>
                </a:solidFill>
                <a:latin typeface="Segoe UI"/>
              </a:rPr>
              <a:t>• On-site digital goods receipting (GR) and docket capture active.</a:t>
            </a:r>
          </a:p>
          <a:p>
            <a:pPr>
              <a:spcAft>
                <a:spcPts val="1000"/>
              </a:spcAft>
            </a:pPr>
            <a:r>
              <a:rPr sz="1050">
                <a:solidFill>
                  <a:srgbClr val="334155"/>
                </a:solidFill>
                <a:latin typeface="Segoe UI"/>
              </a:rPr>
              <a:t>• High adoption across site managers, plant supervisors &amp; procurement.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25696" y="1463040"/>
            <a:ext cx="3328416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54296" y="1691640"/>
            <a:ext cx="2871216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D97706"/>
                </a:solidFill>
                <a:latin typeface="Segoe UI"/>
              </a:defRPr>
            </a:pPr>
            <a:r>
              <a:t>2. TARGET OF THIS PLAN</a:t>
            </a:r>
          </a:p>
          <a:p>
            <a:pPr>
              <a:spcAft>
                <a:spcPts val="1400"/>
              </a:spcAft>
              <a:defRPr sz="1600" b="1">
                <a:solidFill>
                  <a:srgbClr val="0F172A"/>
                </a:solidFill>
                <a:latin typeface="Segoe UI"/>
              </a:defRPr>
            </a:pPr>
            <a:r>
              <a:t>Targeted Continuous Improvement</a:t>
            </a:r>
          </a:p>
          <a:p>
            <a:pPr>
              <a:spcAft>
                <a:spcPts val="1000"/>
              </a:spcAft>
            </a:pPr>
            <a:r>
              <a:rPr sz="1050">
                <a:solidFill>
                  <a:srgbClr val="334155"/>
                </a:solidFill>
                <a:latin typeface="Segoe UI"/>
              </a:rPr>
              <a:t>• Not 'fixing' a broken tool: ProcureFlow already runs reliably.</a:t>
            </a:r>
          </a:p>
          <a:p>
            <a:pPr>
              <a:spcAft>
                <a:spcPts val="1000"/>
              </a:spcAft>
            </a:pPr>
            <a:r>
              <a:rPr sz="1050">
                <a:solidFill>
                  <a:srgbClr val="334155"/>
                </a:solidFill>
                <a:latin typeface="Segoe UI"/>
              </a:rPr>
              <a:t>• Eliminating human friction: Removing manual Excel crunching and packaging typos.</a:t>
            </a:r>
          </a:p>
          <a:p>
            <a:pPr>
              <a:spcAft>
                <a:spcPts val="1000"/>
              </a:spcAft>
            </a:pPr>
            <a:r>
              <a:rPr sz="1050">
                <a:solidFill>
                  <a:srgbClr val="334155"/>
                </a:solidFill>
                <a:latin typeface="Segoe UI"/>
              </a:rPr>
              <a:t>• Point-of-entry guardrails: Guiding users to zero-defect ordering at the source.</a:t>
            </a:r>
          </a:p>
          <a:p>
            <a:pPr>
              <a:spcAft>
                <a:spcPts val="1000"/>
              </a:spcAft>
            </a:pPr>
            <a:r>
              <a:rPr sz="1050">
                <a:solidFill>
                  <a:srgbClr val="334155"/>
                </a:solidFill>
                <a:latin typeface="Segoe UI"/>
              </a:rPr>
              <a:t>• Single source of truth: Permanently synchronizing ProcureFlow with SAP Concur.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19872" y="1463040"/>
            <a:ext cx="3328416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48472" y="1691640"/>
            <a:ext cx="2871216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059669"/>
                </a:solidFill>
                <a:latin typeface="Segoe UI"/>
              </a:defRPr>
            </a:pPr>
            <a:r>
              <a:t>3. FORWARD PIPELINE</a:t>
            </a:r>
          </a:p>
          <a:p>
            <a:pPr>
              <a:spcAft>
                <a:spcPts val="1400"/>
              </a:spcAft>
              <a:defRPr sz="1600" b="1">
                <a:solidFill>
                  <a:srgbClr val="0F172A"/>
                </a:solidFill>
                <a:latin typeface="Segoe UI"/>
              </a:defRPr>
            </a:pPr>
            <a:r>
              <a:t>Future 2-Month Horizon</a:t>
            </a:r>
          </a:p>
          <a:p>
            <a:pPr>
              <a:spcAft>
                <a:spcPts val="1000"/>
              </a:spcAft>
            </a:pPr>
            <a:r>
              <a:rPr sz="1050">
                <a:solidFill>
                  <a:srgbClr val="334155"/>
                </a:solidFill>
                <a:latin typeface="Segoe UI"/>
              </a:rPr>
              <a:t>• Live SOH Testing Pipeline: 2-month validation before retiring manual emails.</a:t>
            </a:r>
          </a:p>
          <a:p>
            <a:pPr>
              <a:spcAft>
                <a:spcPts val="1000"/>
              </a:spcAft>
            </a:pPr>
            <a:r>
              <a:rPr sz="1050">
                <a:solidFill>
                  <a:srgbClr val="334155"/>
                </a:solidFill>
                <a:latin typeface="Segoe UI"/>
              </a:rPr>
              <a:t>• Adelaide Rollout Blueprint: 4-phase structured expansion template.</a:t>
            </a:r>
          </a:p>
          <a:p>
            <a:pPr>
              <a:spcAft>
                <a:spcPts val="1000"/>
              </a:spcAft>
            </a:pPr>
            <a:r>
              <a:rPr sz="1050">
                <a:solidFill>
                  <a:srgbClr val="334155"/>
                </a:solidFill>
                <a:latin typeface="Segoe UI"/>
              </a:rPr>
              <a:t>• Training Video Governance: Mandatory user completion sign-off.</a:t>
            </a:r>
          </a:p>
          <a:p>
            <a:pPr>
              <a:spcAft>
                <a:spcPts val="1000"/>
              </a:spcAft>
            </a:pPr>
            <a:r>
              <a:rPr sz="1050">
                <a:solidFill>
                  <a:srgbClr val="334155"/>
                </a:solidFill>
                <a:latin typeface="Segoe UI"/>
              </a:rPr>
              <a:t>• Omnichannel Notifications: Seamless Teams and email integration.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284C7"/>
                </a:solidFill>
                <a:latin typeface="Segoe UI"/>
              </a:defRPr>
            </a:pPr>
            <a:r>
              <a:t>OPERATIONAL TRACK RECORD</a:t>
            </a:r>
          </a:p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Section 1: Completed Achievements in the Last Three Months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66360" cy="2240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645920"/>
            <a:ext cx="470916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50" b="1">
                <a:solidFill>
                  <a:srgbClr val="0284C7"/>
                </a:solidFill>
                <a:latin typeface="Segoe UI"/>
              </a:defRPr>
            </a:pPr>
            <a:r>
              <a:t>01  |  COLLABORATIVE TRIAD EXECUTION &amp; SKU MANAGEMENT</a:t>
            </a:r>
          </a:p>
          <a:p>
            <a:pPr>
              <a:defRPr sz="1100">
                <a:solidFill>
                  <a:srgbClr val="475569"/>
                </a:solidFill>
                <a:latin typeface="Segoe UI"/>
              </a:defRPr>
            </a:pPr>
            <a:r>
              <a:t>Joint delivery by Aaron Bell, Ashish Chhabra, and Kiran systematically standardized all SPL item master data, replacing disparate branch naming with a single national catalog.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463040"/>
            <a:ext cx="5166360" cy="2240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0" y="1645920"/>
            <a:ext cx="470916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50" b="1">
                <a:solidFill>
                  <a:srgbClr val="059669"/>
                </a:solidFill>
                <a:latin typeface="Segoe UI"/>
              </a:defRPr>
            </a:pPr>
            <a:r>
              <a:t>02  |  AUTOMATED SPL PROCUREMENT EMAIL SYSTEM</a:t>
            </a:r>
          </a:p>
          <a:p>
            <a:pPr>
              <a:defRPr sz="1100">
                <a:solidFill>
                  <a:srgbClr val="475569"/>
                </a:solidFill>
                <a:latin typeface="Segoe UI"/>
              </a:defRPr>
            </a:pPr>
            <a:r>
              <a:t>Engineered automated email ingestion pipelines directly reading incoming vendor inventory feeds and catalog updates in the background, eliminating hours of manual data entry.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77639"/>
            <a:ext cx="5166360" cy="2240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4160519"/>
            <a:ext cx="470916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50" b="1">
                <a:solidFill>
                  <a:srgbClr val="9333EA"/>
                </a:solidFill>
                <a:latin typeface="Segoe UI"/>
              </a:defRPr>
            </a:pPr>
            <a:r>
              <a:t>03  |  NATIONAL SCALE ACROSS 11 FACILITIES</a:t>
            </a:r>
          </a:p>
          <a:p>
            <a:pPr>
              <a:defRPr sz="1100">
                <a:solidFill>
                  <a:srgbClr val="475569"/>
                </a:solidFill>
                <a:latin typeface="Segoe UI"/>
              </a:defRPr>
            </a:pPr>
            <a:r>
              <a:t>ProcureFlow actively manages daily purchasing across 11 operating facilities (8 regional hubs: Melbourne, Sydney, Brisbane, Perth, Adelaide, Cairns, Mackay, Albury + satellite depots).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977639"/>
            <a:ext cx="5166360" cy="2240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4160519"/>
            <a:ext cx="470916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50" b="1">
                <a:solidFill>
                  <a:srgbClr val="D97706"/>
                </a:solidFill>
                <a:latin typeface="Segoe UI"/>
              </a:defRPr>
            </a:pPr>
            <a:r>
              <a:t>04  |  TRAINING VIDEO &amp; GOVERNANCE PROTOCOL</a:t>
            </a:r>
          </a:p>
          <a:p>
            <a:pPr>
              <a:defRPr sz="1100">
                <a:solidFill>
                  <a:srgbClr val="475569"/>
                </a:solidFill>
                <a:latin typeface="Segoe UI"/>
              </a:defRPr>
            </a:pPr>
            <a:r>
              <a:t>Implemented mandatory user governance: Site staff must watch the standardized training video and confirm/tick off completion before receiving active purchasing credentials.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284C7"/>
                </a:solidFill>
                <a:latin typeface="Segoe UI"/>
              </a:defRPr>
            </a:pPr>
            <a:r>
              <a:t>DATA PARITY PROGRESS</a:t>
            </a:r>
          </a:p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Measurable Impact: Supplier Linkage Compliance Surges to 95%–100%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6636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691640"/>
            <a:ext cx="4709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E11D48"/>
                </a:solidFill>
                <a:latin typeface="Segoe UI"/>
              </a:defRPr>
            </a:pPr>
            <a:r>
              <a:t>BEFORE LAUNCH (FEB – APR 2026)</a:t>
            </a:r>
          </a:p>
          <a:p>
            <a:pPr>
              <a:spcAft>
                <a:spcPts val="1400"/>
              </a:spcAft>
              <a:defRPr sz="2800" b="1">
                <a:solidFill>
                  <a:srgbClr val="E11D48"/>
                </a:solidFill>
                <a:latin typeface="Segoe UI"/>
              </a:defRPr>
            </a:pPr>
            <a:r>
              <a:t>~50% Compliance Baseline</a:t>
            </a:r>
          </a:p>
          <a:p>
            <a:pPr>
              <a:spcAft>
                <a:spcPts val="800"/>
              </a:spcAft>
              <a:defRPr sz="1100">
                <a:solidFill>
                  <a:srgbClr val="475569"/>
                </a:solidFill>
                <a:latin typeface="Segoe UI"/>
              </a:defRPr>
            </a:pPr>
            <a:r>
              <a:t>• Unmapped Catalog SKUs: Half of all ordered items lacked linkage to vendor codes.</a:t>
            </a:r>
          </a:p>
          <a:p>
            <a:pPr>
              <a:spcAft>
                <a:spcPts val="800"/>
              </a:spcAft>
              <a:defRPr sz="1100">
                <a:solidFill>
                  <a:srgbClr val="475569"/>
                </a:solidFill>
                <a:latin typeface="Segoe UI"/>
              </a:defRPr>
            </a:pPr>
            <a:r>
              <a:t>• Pricing Discrepancies: Inconsistent rates keyed across different laundry branches.</a:t>
            </a:r>
          </a:p>
          <a:p>
            <a:pPr>
              <a:spcAft>
                <a:spcPts val="800"/>
              </a:spcAft>
              <a:defRPr sz="1100">
                <a:solidFill>
                  <a:srgbClr val="475569"/>
                </a:solidFill>
                <a:latin typeface="Segoe UI"/>
              </a:defRPr>
            </a:pPr>
            <a:r>
              <a:t>• Manual Cross-Referencing: Procurement spent hours verifying supplier order lines.</a:t>
            </a:r>
          </a:p>
          <a:p>
            <a:pPr>
              <a:spcAft>
                <a:spcPts val="800"/>
              </a:spcAft>
              <a:defRPr sz="1100">
                <a:solidFill>
                  <a:srgbClr val="475569"/>
                </a:solidFill>
                <a:latin typeface="Segoe UI"/>
              </a:defRPr>
            </a:pPr>
            <a:r>
              <a:t>• Frequent Order Rework: Inability to auto-verify catalog compliance before submission.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463040"/>
            <a:ext cx="516636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0" y="1691640"/>
            <a:ext cx="4709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059669"/>
                </a:solidFill>
                <a:latin typeface="Segoe UI"/>
              </a:defRPr>
            </a:pPr>
            <a:r>
              <a:t>LAST THREE MONTHS (MAY – AUG 2026)</a:t>
            </a:r>
          </a:p>
          <a:p>
            <a:pPr>
              <a:spcAft>
                <a:spcPts val="1400"/>
              </a:spcAft>
              <a:defRPr sz="2800" b="1">
                <a:solidFill>
                  <a:srgbClr val="059669"/>
                </a:solidFill>
                <a:latin typeface="Segoe UI"/>
              </a:defRPr>
            </a:pPr>
            <a:r>
              <a:t>~95% – 100% Compliance</a:t>
            </a:r>
          </a:p>
          <a:p>
            <a:pPr>
              <a:spcAft>
                <a:spcPts val="800"/>
              </a:spcAft>
              <a:defRPr sz="1100">
                <a:solidFill>
                  <a:srgbClr val="475569"/>
                </a:solidFill>
                <a:latin typeface="Segoe UI"/>
              </a:defRPr>
            </a:pPr>
            <a:r>
              <a:t>✓ 100% Master SKU Linkage: Simba and Host items fully mapped to SPL internal codes.</a:t>
            </a:r>
          </a:p>
          <a:p>
            <a:pPr>
              <a:spcAft>
                <a:spcPts val="800"/>
              </a:spcAft>
              <a:defRPr sz="1100">
                <a:solidFill>
                  <a:srgbClr val="475569"/>
                </a:solidFill>
                <a:latin typeface="Segoe UI"/>
              </a:defRPr>
            </a:pPr>
            <a:r>
              <a:t>✓ Standardized Pricing Master: Active contracted supplier catalog pricing auto-populates.</a:t>
            </a:r>
          </a:p>
          <a:p>
            <a:pPr>
              <a:spcAft>
                <a:spcPts val="800"/>
              </a:spcAft>
              <a:defRPr sz="1100">
                <a:solidFill>
                  <a:srgbClr val="475569"/>
                </a:solidFill>
                <a:latin typeface="Segoe UI"/>
              </a:defRPr>
            </a:pPr>
            <a:r>
              <a:t>✓ Zero Description Ambiguity: Branches and vendors speak the exact same commercial language.</a:t>
            </a:r>
          </a:p>
          <a:p>
            <a:pPr>
              <a:spcAft>
                <a:spcPts val="800"/>
              </a:spcAft>
              <a:defRPr sz="1100">
                <a:solidFill>
                  <a:srgbClr val="475569"/>
                </a:solidFill>
                <a:latin typeface="Segoe UI"/>
              </a:defRPr>
            </a:pPr>
            <a:r>
              <a:t>✓ Visual Proof of Progress: Clear evidence that ProcureFlow's foundation is delivering success.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284C7"/>
                </a:solidFill>
                <a:latin typeface="Segoe UI"/>
              </a:defRPr>
            </a:pPr>
            <a:r>
              <a:t>ZERO-DEFECT REQUISITIONING</a:t>
            </a:r>
          </a:p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Improvement 1: Point-of-Entry Packaging Governance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6636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691640"/>
            <a:ext cx="4709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E11D48"/>
                </a:solidFill>
                <a:latin typeface="Segoe UI"/>
              </a:defRPr>
            </a:pPr>
            <a:r>
              <a:t>THE OPERATIONAL CHALLENGE</a:t>
            </a:r>
          </a:p>
          <a:p>
            <a:pPr>
              <a:spcAft>
                <a:spcPts val="1200"/>
              </a:spcAft>
              <a:defRPr sz="1600" b="1">
                <a:solidFill>
                  <a:srgbClr val="0F172A"/>
                </a:solidFill>
                <a:latin typeface="Segoe UI"/>
              </a:defRPr>
            </a:pPr>
            <a:r>
              <a:t>Arbitrary Requisition Quantities</a:t>
            </a:r>
          </a:p>
          <a:p>
            <a:pPr>
              <a:spcAft>
                <a:spcPts val="1000"/>
              </a:spcAft>
              <a:defRPr sz="1100">
                <a:solidFill>
                  <a:srgbClr val="475569"/>
                </a:solidFill>
                <a:latin typeface="Segoe UI"/>
              </a:defRPr>
            </a:pPr>
            <a:r>
              <a:t>• The Issue: Site staff enter arbitrary numbers (e.g. 5,000 units on a 240 carton size = 20.83 cartons, or 90 on a 100 pack). Suppliers cannot break cartons, forcing Ashish Chhabra to reject orders, email sites, and wait for re-raising.</a:t>
            </a:r>
          </a:p>
          <a:p>
            <a:pPr>
              <a:defRPr sz="1100">
                <a:solidFill>
                  <a:srgbClr val="475569"/>
                </a:solidFill>
                <a:latin typeface="Segoe UI"/>
              </a:defRPr>
            </a:pPr>
            <a:r>
              <a:t>• Business Impact: Operational delays in linen delivery, unnecessary email loops, and administrative rework for procurement.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463040"/>
            <a:ext cx="516636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0" y="1691640"/>
            <a:ext cx="4709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059669"/>
                </a:solidFill>
                <a:latin typeface="Segoe UI"/>
              </a:defRPr>
            </a:pPr>
            <a:r>
              <a:t>THE ENGINEERED SOLUTION &amp; WHY IT WORKS</a:t>
            </a:r>
          </a:p>
          <a:p>
            <a:pPr>
              <a:spcAft>
                <a:spcPts val="1200"/>
              </a:spcAft>
              <a:defRPr sz="1600" b="1">
                <a:solidFill>
                  <a:srgbClr val="0F172A"/>
                </a:solidFill>
                <a:latin typeface="Segoe UI"/>
              </a:defRPr>
            </a:pPr>
            <a:r>
              <a:t>Live Packaging Modulo &amp; 1-Click Rounding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✓ The Solution: </a:t>
            </a:r>
            <a:r>
              <a:rPr sz="1050">
                <a:solidFill>
                  <a:srgbClr val="475569"/>
                </a:solidFill>
                <a:latin typeface="Segoe UI"/>
              </a:rPr>
              <a:t>Live modulo check (quantityOrdered % cartonQty === 0). Hard blocks submission and provides a 1-click 'Round to X units' button (e.g. rounds 5,000 to 5,040 units / 21 cartons).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✓ Why This is the Solution: </a:t>
            </a:r>
            <a:r>
              <a:rPr sz="1050">
                <a:solidFill>
                  <a:srgbClr val="475569"/>
                </a:solidFill>
                <a:latin typeface="Segoe UI"/>
              </a:rPr>
              <a:t>Stops errors before submission rather than catching them days later during approval review.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✓ Frictionless UX: </a:t>
            </a:r>
            <a:r>
              <a:rPr sz="1050">
                <a:solidFill>
                  <a:srgbClr val="475569"/>
                </a:solidFill>
                <a:latin typeface="Segoe UI"/>
              </a:rPr>
              <a:t>The 1-click rounder solves the packaging math instantly for the user.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✓ Zero Procurement Rework: </a:t>
            </a:r>
            <a:r>
              <a:rPr sz="1050">
                <a:solidFill>
                  <a:srgbClr val="475569"/>
                </a:solidFill>
                <a:latin typeface="Segoe UI"/>
              </a:rPr>
              <a:t>Ashish no longer acts as a manual carton calculator, eliminating supplier order rejections.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284C7"/>
                </a:solidFill>
                <a:latin typeface="Segoe UI"/>
              </a:defRPr>
            </a:pPr>
            <a:r>
              <a:t>FINANCIAL INTEGRITY</a:t>
            </a:r>
          </a:p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Improvement 2: Contract Price Master &amp; Zero Invoice Variances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6636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691640"/>
            <a:ext cx="4709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E11D48"/>
                </a:solidFill>
                <a:latin typeface="Segoe UI"/>
              </a:defRPr>
            </a:pPr>
            <a:r>
              <a:t>THE OPERATIONAL CHALLENGE</a:t>
            </a:r>
          </a:p>
          <a:p>
            <a:pPr>
              <a:spcAft>
                <a:spcPts val="1200"/>
              </a:spcAft>
              <a:defRPr sz="1600" b="1">
                <a:solidFill>
                  <a:srgbClr val="0F172A"/>
                </a:solidFill>
                <a:latin typeface="Segoe UI"/>
              </a:defRPr>
            </a:pPr>
            <a:r>
              <a:t>Manual Price Entry Typos</a:t>
            </a:r>
          </a:p>
          <a:p>
            <a:pPr>
              <a:spcAft>
                <a:spcPts val="1000"/>
              </a:spcAft>
              <a:defRPr sz="1100">
                <a:solidFill>
                  <a:srgbClr val="475569"/>
                </a:solidFill>
                <a:latin typeface="Segoe UI"/>
              </a:defRPr>
            </a:pPr>
            <a:r>
              <a:t>• The Issue: Requesters had free-text price editing access. A single keystroke typo (e.g. keying 61¢ instead of contracted 51¢ for face washers) propagated downstream to the vendor and Concur.</a:t>
            </a:r>
          </a:p>
          <a:p>
            <a:pPr>
              <a:defRPr sz="1100">
                <a:solidFill>
                  <a:srgbClr val="475569"/>
                </a:solidFill>
                <a:latin typeface="Segoe UI"/>
              </a:defRPr>
            </a:pPr>
            <a:r>
              <a:t>• Business Impact: When the supplier invoiced at the true contracted rate (51¢), automated 3-way matching in finance failed due to a price variance, freezing the invoice and delaying payment.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463040"/>
            <a:ext cx="516636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0" y="1691640"/>
            <a:ext cx="4709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059669"/>
                </a:solidFill>
                <a:latin typeface="Segoe UI"/>
              </a:defRPr>
            </a:pPr>
            <a:r>
              <a:t>THE ENGINEERED SOLUTION &amp; WHY IT WORKS</a:t>
            </a:r>
          </a:p>
          <a:p>
            <a:pPr>
              <a:spcAft>
                <a:spcPts val="1200"/>
              </a:spcAft>
              <a:defRPr sz="1600" b="1">
                <a:solidFill>
                  <a:srgbClr val="0F172A"/>
                </a:solidFill>
                <a:latin typeface="Segoe UI"/>
              </a:defRPr>
            </a:pPr>
            <a:r>
              <a:t>Contract Price Master Validation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✓ The Solution: </a:t>
            </a:r>
            <a:r>
              <a:rPr sz="1050">
                <a:solidFill>
                  <a:srgbClr val="475569"/>
                </a:solidFill>
                <a:latin typeface="Segoe UI"/>
              </a:rPr>
              <a:t>Leverages the 100% item mapping milestone. Active contracted supplier catalog rates auto-populate lines; $0.00 prices and unapproved price overrides are strictly blocked.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✓ Why This is the Solution: </a:t>
            </a:r>
            <a:r>
              <a:rPr sz="1050">
                <a:solidFill>
                  <a:srgbClr val="475569"/>
                </a:solidFill>
                <a:latin typeface="Segoe UI"/>
              </a:rPr>
              <a:t>Ensuring PO prices match supplier contracts guarantees clean 3-way matching in finance upon invoice receipt.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✓ Protects Commercial Margin: </a:t>
            </a:r>
            <a:r>
              <a:rPr sz="1050">
                <a:solidFill>
                  <a:srgbClr val="475569"/>
                </a:solidFill>
                <a:latin typeface="Segoe UI"/>
              </a:rPr>
              <a:t>Prevents accidental over-payment or unauthorized supplier price creep.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✓ Zero Downstream Holds: </a:t>
            </a:r>
            <a:r>
              <a:rPr sz="1050">
                <a:solidFill>
                  <a:srgbClr val="475569"/>
                </a:solidFill>
                <a:latin typeface="Segoe UI"/>
              </a:rPr>
              <a:t>Invoices pass through finance without manual investigation emails.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284C7"/>
                </a:solidFill>
                <a:latin typeface="Segoe UI"/>
              </a:defRPr>
            </a:pPr>
            <a:r>
              <a:t>ERP INTEGRATION</a:t>
            </a:r>
          </a:p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Improvement 3: Mandatory Concur PR # Enforcement &amp; Task Visibility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6636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691640"/>
            <a:ext cx="4709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E11D48"/>
                </a:solidFill>
                <a:latin typeface="Segoe UI"/>
              </a:defRPr>
            </a:pPr>
            <a:r>
              <a:t>THE OPERATIONAL CHALLENGE</a:t>
            </a:r>
          </a:p>
          <a:p>
            <a:pPr>
              <a:spcAft>
                <a:spcPts val="1200"/>
              </a:spcAft>
              <a:defRPr sz="1600" b="1">
                <a:solidFill>
                  <a:srgbClr val="0F172A"/>
                </a:solidFill>
                <a:latin typeface="Segoe UI"/>
              </a:defRPr>
            </a:pPr>
            <a:r>
              <a:t>Missing Concur PR Numbers</a:t>
            </a:r>
          </a:p>
          <a:p>
            <a:pPr>
              <a:spcAft>
                <a:spcPts val="1000"/>
              </a:spcAft>
              <a:defRPr sz="1100">
                <a:solidFill>
                  <a:srgbClr val="475569"/>
                </a:solidFill>
                <a:latin typeface="Segoe UI"/>
              </a:defRPr>
            </a:pPr>
            <a:r>
              <a:t>• The Issue: Staff received physical deliveries on site and completed orders in ProcureFlow without ever returning to log the SAP Concur Purchase Request number (PR #) or PO #.</a:t>
            </a:r>
          </a:p>
          <a:p>
            <a:pPr>
              <a:defRPr sz="1100">
                <a:solidFill>
                  <a:srgbClr val="475569"/>
                </a:solidFill>
                <a:latin typeface="Segoe UI"/>
              </a:defRPr>
            </a:pPr>
            <a:r>
              <a:t>• Business Impact: Created orphaned records where Concur spend could not be matched against ProcureFlow physical receipts, breaking cross-system audit trails.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463040"/>
            <a:ext cx="516636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0" y="1691640"/>
            <a:ext cx="4709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059669"/>
                </a:solidFill>
                <a:latin typeface="Segoe UI"/>
              </a:defRPr>
            </a:pPr>
            <a:r>
              <a:t>THE ENGINEERED SOLUTION &amp; WHY IT WORKS</a:t>
            </a:r>
          </a:p>
          <a:p>
            <a:pPr>
              <a:spcAft>
                <a:spcPts val="1200"/>
              </a:spcAft>
              <a:defRPr sz="1600" b="1">
                <a:solidFill>
                  <a:srgbClr val="0F172A"/>
                </a:solidFill>
                <a:latin typeface="Segoe UI"/>
              </a:defRPr>
            </a:pPr>
            <a:r>
              <a:t>Mandatory Concur Block &amp; Homepage Center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✓ The Solution: </a:t>
            </a:r>
            <a:r>
              <a:rPr sz="1050">
                <a:solidFill>
                  <a:srgbClr val="475569"/>
                </a:solidFill>
                <a:latin typeface="Segoe UI"/>
              </a:rPr>
              <a:t>Hard block on order closure without Concur reference, plus Homepage Action Required center showing pending Concur links on login.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✓ Why This is the Solution: </a:t>
            </a:r>
            <a:r>
              <a:rPr sz="1050">
                <a:solidFill>
                  <a:srgbClr val="475569"/>
                </a:solidFill>
                <a:latin typeface="Segoe UI"/>
              </a:rPr>
              <a:t>Placing the block at the final step of order completion guarantees users capture the Concur reference before the transaction finalizes.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✓ 100% ERP Mirroring: </a:t>
            </a:r>
            <a:r>
              <a:rPr sz="1050">
                <a:solidFill>
                  <a:srgbClr val="475569"/>
                </a:solidFill>
                <a:latin typeface="Segoe UI"/>
              </a:rPr>
              <a:t>Every completed order in ProcureFlow has a direct audit mirror in SAP Concur.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✓ Mobile Polish Included: </a:t>
            </a:r>
            <a:r>
              <a:rPr sz="1050">
                <a:solidFill>
                  <a:srgbClr val="475569"/>
                </a:solidFill>
                <a:latin typeface="Segoe UI"/>
              </a:rPr>
              <a:t>Fixed mobile requests scrolling bug, enabling seamless viewing on tablets and phones.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284C7"/>
                </a:solidFill>
                <a:latin typeface="Segoe UI"/>
              </a:defRPr>
            </a:pPr>
            <a:r>
              <a:t>EXECUTIVE FINANCIAL INTELLIGENCE</a:t>
            </a:r>
          </a:p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Improvement 4: Native EOM Spend &amp; Budget Reconciliation Engine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2468880" cy="1188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08760"/>
            <a:ext cx="2194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64748B"/>
                </a:solidFill>
                <a:latin typeface="Segoe UI"/>
              </a:defRPr>
            </a:pPr>
            <a:r>
              <a:t>FY27 TOTAL BUDGET</a:t>
            </a:r>
          </a:p>
          <a:p>
            <a:pPr>
              <a:defRPr sz="2000" b="1">
                <a:solidFill>
                  <a:srgbClr val="0284C7"/>
                </a:solidFill>
                <a:latin typeface="Segoe UI"/>
              </a:defRPr>
            </a:pPr>
            <a:r>
              <a:t>$14.521M</a:t>
            </a:r>
          </a:p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Baseline Operating Budget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83864" y="1463040"/>
            <a:ext cx="2468880" cy="1188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21024" y="1508760"/>
            <a:ext cx="2194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64748B"/>
                </a:solidFill>
                <a:latin typeface="Segoe UI"/>
              </a:defRPr>
            </a:pPr>
            <a:r>
              <a:t>DEPLETION RUN RATE</a:t>
            </a:r>
          </a:p>
          <a:p>
            <a:pPr>
              <a:defRPr sz="2000" b="1">
                <a:solidFill>
                  <a:srgbClr val="059669"/>
                </a:solidFill>
                <a:latin typeface="Segoe UI"/>
              </a:defRPr>
            </a:pPr>
            <a:r>
              <a:t>$9.921M</a:t>
            </a:r>
          </a:p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$826.8k / Month Target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6208" y="1463040"/>
            <a:ext cx="2468880" cy="1188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73368" y="1508760"/>
            <a:ext cx="2194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64748B"/>
                </a:solidFill>
                <a:latin typeface="Segoe UI"/>
              </a:defRPr>
            </a:pPr>
            <a:r>
              <a:t>NEW BUSINESS POOL</a:t>
            </a:r>
          </a:p>
          <a:p>
            <a:pPr>
              <a:defRPr sz="2000" b="1">
                <a:solidFill>
                  <a:srgbClr val="9333EA"/>
                </a:solidFill>
                <a:latin typeface="Segoe UI"/>
              </a:defRPr>
            </a:pPr>
            <a:r>
              <a:t>$2.300M</a:t>
            </a:r>
          </a:p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$191.7k / Month Allocation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88552" y="1463040"/>
            <a:ext cx="2468880" cy="1188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25712" y="1508760"/>
            <a:ext cx="2194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64748B"/>
                </a:solidFill>
                <a:latin typeface="Segoe UI"/>
              </a:defRPr>
            </a:pPr>
            <a:r>
              <a:t>LINEN HUB DEDICATED</a:t>
            </a:r>
          </a:p>
          <a:p>
            <a:pPr>
              <a:defRPr sz="2000" b="1">
                <a:solidFill>
                  <a:srgbClr val="D97706"/>
                </a:solidFill>
                <a:latin typeface="Segoe UI"/>
              </a:defRPr>
            </a:pPr>
            <a:r>
              <a:t>$2.300M</a:t>
            </a:r>
          </a:p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Real-Time Decrement Pool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834640"/>
            <a:ext cx="10728655" cy="3383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017520"/>
            <a:ext cx="10271455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  <a:latin typeface="Segoe UI"/>
              </a:defRPr>
            </a:pPr>
            <a:r>
              <a:t>Why This is the Solution for Executive Leadership: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Automates 3 Days of Work: </a:t>
            </a:r>
            <a:r>
              <a:rPr sz="1050">
                <a:solidFill>
                  <a:srgbClr val="475569"/>
                </a:solidFill>
                <a:latin typeface="Segoe UI"/>
              </a:rPr>
              <a:t>Natively replicates Ashish's Concur EOM Pivot (Branch × Sector × Reason) excluding GST (Total / 1.1) in seconds.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100% Precision Verified: </a:t>
            </a:r>
            <a:r>
              <a:rPr sz="1050">
                <a:solidFill>
                  <a:srgbClr val="475569"/>
                </a:solidFill>
                <a:latin typeface="Segoe UI"/>
              </a:rPr>
              <a:t>Regex classifier achieves verified 100.0% accuracy matching Ashish's historical dataset (52/52 records reconciled).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Branch Variance Tracking: </a:t>
            </a:r>
            <a:r>
              <a:rPr sz="1050">
                <a:solidFill>
                  <a:srgbClr val="475569"/>
                </a:solidFill>
                <a:latin typeface="Segoe UI"/>
              </a:rPr>
              <a:t>Tracks monthly actuals and YTD spend vs baseline budgets across all 8 branches (Melbourne $2.65M, Sydney $2.78M, Adelaide $920k, Brisbane $1.03M, Cairns $706k, Mackay $349k, Perth $996k, Albury $481k).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Dedicated Linen Hub Pool: </a:t>
            </a:r>
            <a:r>
              <a:rPr sz="1050">
                <a:solidFill>
                  <a:srgbClr val="475569"/>
                </a:solidFill>
                <a:latin typeface="Segoe UI"/>
              </a:rPr>
              <a:t>Maintains continuous decrement balance tracking against the dedicated $2.30M injection reserve.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Strategic Subcontracts: </a:t>
            </a:r>
            <a:r>
              <a:rPr sz="1050">
                <a:solidFill>
                  <a:srgbClr val="475569"/>
                </a:solidFill>
                <a:latin typeface="Segoe UI"/>
              </a:rPr>
              <a:t>Real-time visibility into HealthShare Victoria (HSV) and Ramsay Health Care (RHC) spend.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1-Click Concur Export: </a:t>
            </a:r>
            <a:r>
              <a:rPr sz="1050">
                <a:solidFill>
                  <a:srgbClr val="475569"/>
                </a:solidFill>
                <a:latin typeface="Segoe UI"/>
              </a:rPr>
              <a:t>Generates formatted leadership-ready Excel CSV reconciliation files at a single click.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284C7"/>
                </a:solidFill>
                <a:latin typeface="Segoe UI"/>
              </a:defRPr>
            </a:pPr>
            <a:r>
              <a:t>STRATEGIC PIPELINE</a:t>
            </a:r>
          </a:p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Forward Pipeline (Next 2 Months): Live SOH Testing &amp; Omnichannel Alerts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6636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691640"/>
            <a:ext cx="4709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0284C7"/>
                </a:solidFill>
                <a:latin typeface="Segoe UI"/>
              </a:defRPr>
            </a:pPr>
            <a:r>
              <a:t>SUPPLIER INVENTORY TESTING PIPELINE</a:t>
            </a:r>
          </a:p>
          <a:p>
            <a:pPr>
              <a:spcAft>
                <a:spcPts val="1200"/>
              </a:spcAft>
              <a:defRPr sz="1500" b="1">
                <a:solidFill>
                  <a:srgbClr val="0F172A"/>
                </a:solidFill>
                <a:latin typeface="Segoe UI"/>
              </a:defRPr>
            </a:pPr>
            <a:r>
              <a:t>2-Month Live SOH Validation Phase</a:t>
            </a:r>
          </a:p>
          <a:p>
            <a:pPr>
              <a:spcAft>
                <a:spcPts val="8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✓ Months 1–2 Testing Window: </a:t>
            </a:r>
            <a:r>
              <a:rPr sz="1000">
                <a:solidFill>
                  <a:srgbClr val="475569"/>
                </a:solidFill>
                <a:latin typeface="Segoe UI"/>
              </a:rPr>
              <a:t>Procurement (Ashish) and Tech (Aaron) conduct parallel testing of live inventory feeds in ProcureFlow vs manual Excel reports.</a:t>
            </a:r>
          </a:p>
          <a:p>
            <a:pPr>
              <a:spcAft>
                <a:spcPts val="8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✓ Verification Gate: </a:t>
            </a:r>
            <a:r>
              <a:rPr sz="1000">
                <a:solidFill>
                  <a:srgbClr val="475569"/>
                </a:solidFill>
                <a:latin typeface="Segoe UI"/>
              </a:rPr>
              <a:t>Thoroughly test data consistency across two full month-end cycles before directing branch managers to rely 100% on system data.</a:t>
            </a:r>
          </a:p>
          <a:p>
            <a:pPr>
              <a:spcAft>
                <a:spcPts val="8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✓ Retirement of Manual Emails: </a:t>
            </a:r>
            <a:r>
              <a:rPr sz="1000">
                <a:solidFill>
                  <a:srgbClr val="475569"/>
                </a:solidFill>
                <a:latin typeface="Segoe UI"/>
              </a:rPr>
              <a:t>Formally deprecates the time-consuming weekly emailing of supplier spreadsheets.</a:t>
            </a:r>
          </a:p>
          <a:p>
            <a:pPr>
              <a:spcAft>
                <a:spcPts val="8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✓ Pre-Requisition Visibility: </a:t>
            </a:r>
            <a:r>
              <a:rPr sz="1000">
                <a:solidFill>
                  <a:srgbClr val="475569"/>
                </a:solidFill>
                <a:latin typeface="Segoe UI"/>
              </a:rPr>
              <a:t>Allows state managers to see real-time stock levels before ordering.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463040"/>
            <a:ext cx="516636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0" y="1691640"/>
            <a:ext cx="4709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333EA"/>
                </a:solidFill>
                <a:latin typeface="Segoe UI"/>
              </a:defRPr>
            </a:pPr>
            <a:r>
              <a:t>OMNICHANNEL NOTIFICATIONS &amp; ESCALATION</a:t>
            </a:r>
          </a:p>
          <a:p>
            <a:pPr>
              <a:spcAft>
                <a:spcPts val="1200"/>
              </a:spcAft>
              <a:defRPr sz="1500" b="1">
                <a:solidFill>
                  <a:srgbClr val="0F172A"/>
                </a:solidFill>
                <a:latin typeface="Segoe UI"/>
              </a:defRPr>
            </a:pPr>
            <a:r>
              <a:t>Closing the Operational Loop</a:t>
            </a:r>
          </a:p>
          <a:p>
            <a:pPr>
              <a:spcAft>
                <a:spcPts val="8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✓ 100% GR Closure Nudges: </a:t>
            </a:r>
            <a:r>
              <a:rPr sz="1000">
                <a:solidFill>
                  <a:srgbClr val="475569"/>
                </a:solidFill>
                <a:latin typeface="Segoe UI"/>
              </a:rPr>
              <a:t>Automated daily reminders to complete delivered orders; variance routing to Ashish if delivered quantities differ.</a:t>
            </a:r>
          </a:p>
          <a:p>
            <a:pPr>
              <a:spcAft>
                <a:spcPts val="8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✓ Overdue Delivery Escalation: </a:t>
            </a:r>
            <a:r>
              <a:rPr sz="1000">
                <a:solidFill>
                  <a:srgbClr val="475569"/>
                </a:solidFill>
                <a:latin typeface="Segoe UI"/>
              </a:rPr>
              <a:t>Tiered alerts (&gt;14d to user, &gt;21d copying line managers e.g. David, Ashish, Ebrahim).</a:t>
            </a:r>
          </a:p>
          <a:p>
            <a:pPr>
              <a:spcAft>
                <a:spcPts val="8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✓ In-App Notification Hub: </a:t>
            </a:r>
            <a:r>
              <a:rPr sz="1000">
                <a:solidFill>
                  <a:srgbClr val="475569"/>
                </a:solidFill>
                <a:latin typeface="Segoe UI"/>
              </a:rPr>
              <a:t>Live slide-over drawer with unread badge indicators and direct action deep-links.</a:t>
            </a:r>
          </a:p>
          <a:p>
            <a:pPr>
              <a:spcAft>
                <a:spcPts val="8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✓ Microsoft Teams &amp; Email: </a:t>
            </a:r>
            <a:r>
              <a:rPr sz="1000">
                <a:solidFill>
                  <a:srgbClr val="475569"/>
                </a:solidFill>
                <a:latin typeface="Segoe UI"/>
              </a:rPr>
              <a:t>Actionable Teams Adaptive Cards (v1.4) and Graph HTML emails with 1-click approvals.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284C7"/>
                </a:solidFill>
                <a:latin typeface="Segoe UI"/>
              </a:defRPr>
            </a:pPr>
            <a:r>
              <a:t>SITE EXPANSION ROADMAP</a:t>
            </a:r>
          </a:p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Adelaide Rollout Blueprint: Scalable 4-Phase Implementation Template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246888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91640"/>
            <a:ext cx="21031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50" b="1">
                <a:solidFill>
                  <a:srgbClr val="0284C7"/>
                </a:solidFill>
                <a:latin typeface="Segoe UI"/>
              </a:defRPr>
            </a:pPr>
            <a:r>
              <a:t>PHASE 1 (WEEK 1)</a:t>
            </a:r>
          </a:p>
          <a:p>
            <a:pPr>
              <a:spcAft>
                <a:spcPts val="1400"/>
              </a:spcAft>
              <a:defRPr sz="1300" b="1">
                <a:solidFill>
                  <a:srgbClr val="0F172A"/>
                </a:solidFill>
                <a:latin typeface="Segoe UI"/>
              </a:defRPr>
            </a:pPr>
            <a:r>
              <a:t>Master Setup &amp; Provisioning</a:t>
            </a:r>
          </a:p>
          <a:p>
            <a:pPr>
              <a:spcAft>
                <a:spcPts val="1000"/>
              </a:spcAft>
            </a:pPr>
            <a:r>
              <a:rPr sz="1000">
                <a:solidFill>
                  <a:srgbClr val="475569"/>
                </a:solidFill>
                <a:latin typeface="Segoe UI"/>
              </a:rPr>
              <a:t>• Configure delivery addresses and vendor account links for Adelaide.</a:t>
            </a:r>
          </a:p>
          <a:p>
            <a:pPr>
              <a:spcAft>
                <a:spcPts val="1000"/>
              </a:spcAft>
            </a:pPr>
            <a:r>
              <a:rPr sz="1000">
                <a:solidFill>
                  <a:srgbClr val="475569"/>
                </a:solidFill>
                <a:latin typeface="Segoe UI"/>
              </a:rPr>
              <a:t>• Adelaide catalog SKU filtering &amp; pricing schedules.</a:t>
            </a:r>
          </a:p>
          <a:p>
            <a:pPr>
              <a:spcAft>
                <a:spcPts val="1000"/>
              </a:spcAft>
            </a:pPr>
            <a:r>
              <a:rPr sz="1000">
                <a:solidFill>
                  <a:srgbClr val="475569"/>
                </a:solidFill>
                <a:latin typeface="Segoe UI"/>
              </a:rPr>
              <a:t>• Provision user accounts (Site Manager, Requesters, Receivers).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566160" y="1463040"/>
            <a:ext cx="246888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749040" y="1691640"/>
            <a:ext cx="21031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50" b="1">
                <a:solidFill>
                  <a:srgbClr val="9333EA"/>
                </a:solidFill>
                <a:latin typeface="Segoe UI"/>
              </a:defRPr>
            </a:pPr>
            <a:r>
              <a:t>PHASE 2 (WEEK 2)</a:t>
            </a:r>
          </a:p>
          <a:p>
            <a:pPr>
              <a:spcAft>
                <a:spcPts val="1400"/>
              </a:spcAft>
              <a:defRPr sz="1300" b="1">
                <a:solidFill>
                  <a:srgbClr val="0F172A"/>
                </a:solidFill>
                <a:latin typeface="Segoe UI"/>
              </a:defRPr>
            </a:pPr>
            <a:r>
              <a:t>Governance &amp; Video Training</a:t>
            </a:r>
          </a:p>
          <a:p>
            <a:pPr>
              <a:spcAft>
                <a:spcPts val="1000"/>
              </a:spcAft>
            </a:pPr>
            <a:r>
              <a:rPr sz="1000">
                <a:solidFill>
                  <a:srgbClr val="475569"/>
                </a:solidFill>
                <a:latin typeface="Segoe UI"/>
              </a:rPr>
              <a:t>• Distribute standardized ProcureFlow training video to Adelaide team.</a:t>
            </a:r>
          </a:p>
          <a:p>
            <a:pPr>
              <a:spcAft>
                <a:spcPts val="1000"/>
              </a:spcAft>
            </a:pPr>
            <a:r>
              <a:rPr sz="1000">
                <a:solidFill>
                  <a:srgbClr val="475569"/>
                </a:solidFill>
                <a:latin typeface="Segoe UI"/>
              </a:rPr>
              <a:t>• Enforce mandatory user sign-off tracking before activating ordering access.</a:t>
            </a:r>
          </a:p>
          <a:p>
            <a:pPr>
              <a:spcAft>
                <a:spcPts val="1000"/>
              </a:spcAft>
            </a:pPr>
            <a:r>
              <a:rPr sz="1000">
                <a:solidFill>
                  <a:srgbClr val="475569"/>
                </a:solidFill>
                <a:latin typeface="Segoe UI"/>
              </a:rPr>
              <a:t>• Hands-on walkthrough with Adelaide site operations.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463040"/>
            <a:ext cx="246888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691640"/>
            <a:ext cx="21031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50" b="1">
                <a:solidFill>
                  <a:srgbClr val="D97706"/>
                </a:solidFill>
                <a:latin typeface="Segoe UI"/>
              </a:defRPr>
            </a:pPr>
            <a:r>
              <a:t>PHASE 3 (WEEKS 3–4)</a:t>
            </a:r>
          </a:p>
          <a:p>
            <a:pPr>
              <a:spcAft>
                <a:spcPts val="1400"/>
              </a:spcAft>
              <a:defRPr sz="1300" b="1">
                <a:solidFill>
                  <a:srgbClr val="0F172A"/>
                </a:solidFill>
                <a:latin typeface="Segoe UI"/>
              </a:defRPr>
            </a:pPr>
            <a:r>
              <a:t>Shadow Requisitions &amp; DOA</a:t>
            </a:r>
          </a:p>
          <a:p>
            <a:pPr>
              <a:spcAft>
                <a:spcPts val="1000"/>
              </a:spcAft>
            </a:pPr>
            <a:r>
              <a:rPr sz="1000">
                <a:solidFill>
                  <a:srgbClr val="475569"/>
                </a:solidFill>
                <a:latin typeface="Segoe UI"/>
              </a:rPr>
              <a:t>• 2-week parallel ordering period to validate local site behavior.</a:t>
            </a:r>
          </a:p>
          <a:p>
            <a:pPr>
              <a:spcAft>
                <a:spcPts val="1000"/>
              </a:spcAft>
            </a:pPr>
            <a:r>
              <a:rPr sz="1000">
                <a:solidFill>
                  <a:srgbClr val="475569"/>
                </a:solidFill>
                <a:latin typeface="Segoe UI"/>
              </a:rPr>
              <a:t>• Verify carton multiple adherence and price validation rules.</a:t>
            </a:r>
          </a:p>
          <a:p>
            <a:pPr>
              <a:spcAft>
                <a:spcPts val="1000"/>
              </a:spcAft>
            </a:pPr>
            <a:r>
              <a:rPr sz="1000">
                <a:solidFill>
                  <a:srgbClr val="475569"/>
                </a:solidFill>
                <a:latin typeface="Segoe UI"/>
              </a:rPr>
              <a:t>• Calibrate DOA approval thresholds with Ashish Chhabra.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235440" y="1463040"/>
            <a:ext cx="246888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0" y="1691640"/>
            <a:ext cx="21031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50" b="1">
                <a:solidFill>
                  <a:srgbClr val="059669"/>
                </a:solidFill>
                <a:latin typeface="Segoe UI"/>
              </a:defRPr>
            </a:pPr>
            <a:r>
              <a:t>PHASE 4 (WEEK 5)</a:t>
            </a:r>
          </a:p>
          <a:p>
            <a:pPr>
              <a:spcAft>
                <a:spcPts val="1400"/>
              </a:spcAft>
              <a:defRPr sz="1300" b="1">
                <a:solidFill>
                  <a:srgbClr val="0F172A"/>
                </a:solidFill>
                <a:latin typeface="Segoe UI"/>
              </a:defRPr>
            </a:pPr>
            <a:r>
              <a:t>Full Production Cutover</a:t>
            </a:r>
          </a:p>
          <a:p>
            <a:pPr>
              <a:spcAft>
                <a:spcPts val="1000"/>
              </a:spcAft>
            </a:pPr>
            <a:r>
              <a:rPr sz="1000">
                <a:solidFill>
                  <a:srgbClr val="475569"/>
                </a:solidFill>
                <a:latin typeface="Segoe UI"/>
              </a:rPr>
              <a:t>• 100% cutover of Adelaide linen purchasing into ProcureFlow.</a:t>
            </a:r>
          </a:p>
          <a:p>
            <a:pPr>
              <a:spcAft>
                <a:spcPts val="1000"/>
              </a:spcAft>
            </a:pPr>
            <a:r>
              <a:rPr sz="1000">
                <a:solidFill>
                  <a:srgbClr val="475569"/>
                </a:solidFill>
                <a:latin typeface="Segoe UI"/>
              </a:rPr>
              <a:t>• Mandatory Concur PR # linkage enforced on all receipts.</a:t>
            </a:r>
          </a:p>
          <a:p>
            <a:pPr>
              <a:spcAft>
                <a:spcPts val="1000"/>
              </a:spcAft>
            </a:pPr>
            <a:r>
              <a:rPr sz="1000">
                <a:solidFill>
                  <a:srgbClr val="475569"/>
                </a:solidFill>
                <a:latin typeface="Segoe UI"/>
              </a:rPr>
              <a:t>• Complete retirement of manual email/paper ordering channels.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