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SOUTH PACIFIC LAUNDRY  |  EXECUTIVE STRATEGIC REVIEW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ProcureFlow: Operational Achievements,</a:t>
            </a:r>
            <a:br/>
            <a:r>
              <a:t>Governance &amp; Strategic Forward Pipeline</a:t>
            </a:r>
          </a:p>
          <a:p>
            <a:pPr>
              <a:spcAft>
                <a:spcPts val="36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Horizon 1 (Achievements in Last 3 Months)  •  Horizon 2 (Current Elevation)  •  Horizon 3 (Next 2 Months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EXECUTIVE COMMITTEE &amp; WORKSHOP ALIGNMENT:</a:t>
            </a:r>
          </a:p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Ebrahim Mokhtari (Chief Operating Officer)   |   Ashish Chhabra (Procurement Lead)   |   Aaron Bell (Tech Lead)</a:t>
            </a:r>
            <a:br/>
            <a:r>
              <a:t>Executive Leadership Workshop: Thursday, September 3, 2026 @ 10:00 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STRATEGIC TRANSFORMATION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Strategic Mindset: The Three-Horizon Transformation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284C7"/>
                </a:solidFill>
                <a:latin typeface="Segoe UI"/>
              </a:defRPr>
            </a:pPr>
            <a:r>
              <a:t>HORIZON 1: LAST 3 MONTHS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Completed Achievements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Collaborative Triad Overhaul: Aaron Bell, Ashish Chhabra &amp; Kiran unified national SKU master data.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Supplier Linkage Surge: Compliance surged from ~50% in Feb-Apr to ~95%-100% currently.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Procurement Email Engine: Automated background ingestion of supplier stock and catalog updates.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11 Operating Facilities Live: Active daily purchasing across 8 primary regional hubs plus satellite plants.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  <a:latin typeface="Segoe UI"/>
              </a:defRPr>
            </a:pPr>
            <a:r>
              <a:t>HORIZON 2: CURRENT ELEVATION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Closed-Loop Governance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Point-of-Entry Governance: Modulo packaging rules &amp; 1-click smart rounding (e.g. 5,000 -&gt; 5,040).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Contract Price Master Parity: Zero-price block &amp; contracted rates auto-population.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Mandatory Concur PR Link: Enforces 100% ERP mirroring before an order can be closed.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Executive EOM Reconciliation: Real-time 2D Pivot Table &amp; FY27 Budget ($14.521M) burn rate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9164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  <a:latin typeface="Segoe UI"/>
              </a:defRPr>
            </a:pPr>
            <a:r>
              <a:t>HORIZON 3: NEXT 2 MONTHS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Strategic Forward Pipeline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Adelaide Rollout Blueprint: 4-phase structured expansion template for site onboarding.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Live SOH 2-Month Testing Pipeline: Parallel validation before retiring manual weekly emails.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Mandatory Training Governance: User video completion sign-off before purchasing activation.</a:t>
            </a:r>
          </a:p>
          <a:p>
            <a:pPr>
              <a:spcAft>
                <a:spcPts val="1000"/>
              </a:spcAft>
            </a:pPr>
            <a:r>
              <a:rPr sz="1050">
                <a:solidFill>
                  <a:srgbClr val="334155"/>
                </a:solidFill>
                <a:latin typeface="Segoe UI"/>
              </a:rPr>
              <a:t>• Short Supply Logic Migration: Native parity with legacy BI/Power Apps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OPERATIONAL TRACK RECORD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Horizon 1: Completed Achievements in the Last Three Months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284C7"/>
                </a:solidFill>
                <a:latin typeface="Segoe UI"/>
              </a:defRPr>
            </a:pPr>
            <a:r>
              <a:t>01  |  COLLABORATIVE TRIAD MASTER SKU MANAGEMENT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Joint delivery by Aaron Bell, Ashish Chhabra, and Kiran systematically standardized all SPL item master data, replacing disparate branch naming with a single national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59669"/>
                </a:solidFill>
                <a:latin typeface="Segoe UI"/>
              </a:defRPr>
            </a:pPr>
            <a:r>
              <a:t>02  |  AUTOMATED PROCUREMENT EMAIL INGESTION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Engineered automated email ingestion directly reading vendor inventory feeds and catalog updates from procurement@splservices.com.au, eliminating hours of manual data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19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9333EA"/>
                </a:solidFill>
                <a:latin typeface="Segoe UI"/>
              </a:defRPr>
            </a:pPr>
            <a:r>
              <a:t>03  |  NATIONAL SCALE ACROSS 11 FACILITIES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ProcureFlow actively manages daily purchasing across 11 operating facilities (8 regional hubs: Melbourne, Sydney, Brisbane, Perth, Adelaide, Cairns, Mackay, Albury + satellite depots).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977639"/>
            <a:ext cx="51663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60519"/>
            <a:ext cx="4709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D97706"/>
                </a:solidFill>
                <a:latin typeface="Segoe UI"/>
              </a:defRPr>
            </a:pPr>
            <a:r>
              <a:t>04  |  DIGITAL GOODS RECEIPTING (GR) &amp; DOCKET CAPTURE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Warehouse receiving teams capture delivery dockets, quantities received, and signatures digitally on floor tablets, providing the factual bedrock for automated 3-way invoice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DATA PARITY PROGRESS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Measurable Impact: Supplier Linkage Compliance Surges to 95%–100%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11D48"/>
                </a:solidFill>
                <a:latin typeface="Segoe UI"/>
              </a:defRPr>
            </a:pPr>
            <a:r>
              <a:t>BEFORE LAUNCH (FEB – APR 2026)</a:t>
            </a:r>
          </a:p>
          <a:p>
            <a:pPr>
              <a:spcAft>
                <a:spcPts val="1400"/>
              </a:spcAft>
              <a:defRPr sz="2800" b="1">
                <a:solidFill>
                  <a:srgbClr val="E11D48"/>
                </a:solidFill>
                <a:latin typeface="Segoe UI"/>
              </a:defRPr>
            </a:pPr>
            <a:r>
              <a:t>~50% Compliance Baseline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Unmapped Catalog SKUs: Half of all ordered items lacked linkage to vendor codes.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Pricing Discrepancies: Inconsistent rates keyed across different laundry branches.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Manual Cross-Referencing: Procurement spent hours verifying supplier order lines.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Frequent Order Rework: Inability to auto-verify catalog compliance before submission.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Segoe UI"/>
              </a:defRPr>
            </a:pPr>
            <a:r>
              <a:t>LAST THREE MONTHS (MAY – AUG 2026)</a:t>
            </a:r>
          </a:p>
          <a:p>
            <a:pPr>
              <a:spcAft>
                <a:spcPts val="1400"/>
              </a:spcAft>
              <a:defRPr sz="2800" b="1">
                <a:solidFill>
                  <a:srgbClr val="059669"/>
                </a:solidFill>
                <a:latin typeface="Segoe UI"/>
              </a:defRPr>
            </a:pPr>
            <a:r>
              <a:t>~95% – 100% Compliance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✓ 100% Master SKU Linkage: Simba and Host items fully mapped to SPL internal codes.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✓ Standardized Pricing Master: Active contracted supplier catalog pricing auto-populates.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✓ Zero Description Ambiguity: Branches and vendors speak the exact same commercial language.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✓ Visual Proof of Progress: Clear evidence that ProcureFlow's foundation is delivering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ZERO-DEFECT REQUISITIONING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Horizon 2: Point-of-Entry Packaging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1D48"/>
                </a:solidFill>
                <a:latin typeface="Segoe UI"/>
              </a:defRPr>
            </a:pPr>
            <a:r>
              <a:t>THE OPERATIONAL CHALLENGE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Arbitrary Requisition Quantities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The Issue: Site staff enter arbitrary numbers (e.g. 5,000 units on a 240 carton size = 20.83 cartons, or 90 on a 100 pack). Suppliers cannot break cartons, forcing Ashish Chhabra to reject orders, email sites, and wait for re-raising.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• Business Impact: Operational delays in linen delivery, unnecessary email loops, and administrative rework for procurement.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THE ENGINEERED SOLUTION &amp; WHY IT WORKS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Live Packaging Modulo &amp; 1-Click Rounding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The Solution: </a:t>
            </a:r>
            <a:r>
              <a:rPr sz="1050">
                <a:solidFill>
                  <a:srgbClr val="475569"/>
                </a:solidFill>
                <a:latin typeface="Segoe UI"/>
              </a:rPr>
              <a:t>Live modulo check (quantityOrdered % cartonQty === 0). Hard blocks submission and provides a 1-click 'Round to X units' button (e.g. rounds 5,000 to 5,040 units / 21 cartons).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Why This is the Solution: </a:t>
            </a:r>
            <a:r>
              <a:rPr sz="1050">
                <a:solidFill>
                  <a:srgbClr val="475569"/>
                </a:solidFill>
                <a:latin typeface="Segoe UI"/>
              </a:rPr>
              <a:t>Stops errors before submission rather than catching them days later during approval review.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Frictionless UX: </a:t>
            </a:r>
            <a:r>
              <a:rPr sz="1050">
                <a:solidFill>
                  <a:srgbClr val="475569"/>
                </a:solidFill>
                <a:latin typeface="Segoe UI"/>
              </a:rPr>
              <a:t>The 1-click rounder solves the packaging math instantly for the user.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Zero Procurement Rework: </a:t>
            </a:r>
            <a:r>
              <a:rPr sz="1050">
                <a:solidFill>
                  <a:srgbClr val="475569"/>
                </a:solidFill>
                <a:latin typeface="Segoe UI"/>
              </a:rPr>
              <a:t>Ashish no longer acts as a manual carton calculator, eliminating supplier order rejections.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FINANCIAL INTEGRITY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Horizon 2: Contract Price Master &amp; Zero Invoice Variances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1D48"/>
                </a:solidFill>
                <a:latin typeface="Segoe UI"/>
              </a:defRPr>
            </a:pPr>
            <a:r>
              <a:t>THE OPERATIONAL CHALLENGE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Manual Price Entry Typos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The Issue: Requesters had free-text price editing access. A single keystroke typo (e.g. keying 61¢ instead of contracted 51¢ for face washers) propagated downstream to the vendor and Concur.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• Business Impact: When the supplier invoiced at the true contracted rate (51¢), automated 3-way matching in finance failed due to a price variance, freezing the invoice and delaying payment.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THE ENGINEERED SOLUTION &amp; WHY IT WORKS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Contract Price Master Validation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The Solution: </a:t>
            </a:r>
            <a:r>
              <a:rPr sz="1050">
                <a:solidFill>
                  <a:srgbClr val="475569"/>
                </a:solidFill>
                <a:latin typeface="Segoe UI"/>
              </a:rPr>
              <a:t>Leverages the 100% item mapping milestone. Active contracted supplier catalog rates auto-populate lines; $0.00 prices and unapproved price overrides are strictly blocked.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Why This is the Solution: </a:t>
            </a:r>
            <a:r>
              <a:rPr sz="1050">
                <a:solidFill>
                  <a:srgbClr val="475569"/>
                </a:solidFill>
                <a:latin typeface="Segoe UI"/>
              </a:rPr>
              <a:t>Ensuring PO prices match supplier contracts guarantees clean 3-way matching in finance upon invoice receipt.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Protects Commercial Margin: </a:t>
            </a:r>
            <a:r>
              <a:rPr sz="1050">
                <a:solidFill>
                  <a:srgbClr val="475569"/>
                </a:solidFill>
                <a:latin typeface="Segoe UI"/>
              </a:rPr>
              <a:t>Prevents accidental over-payment or unauthorized supplier price creep.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Zero Downstream Holds: </a:t>
            </a:r>
            <a:r>
              <a:rPr sz="1050">
                <a:solidFill>
                  <a:srgbClr val="475569"/>
                </a:solidFill>
                <a:latin typeface="Segoe UI"/>
              </a:rPr>
              <a:t>Invoices pass through finance without manual investigation emails.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ERP INTEGRATION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Horizon 2: Mandatory Concur PR # Enforcement &amp; Task Visibility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E11D48"/>
                </a:solidFill>
                <a:latin typeface="Segoe UI"/>
              </a:defRPr>
            </a:pPr>
            <a:r>
              <a:t>THE OPERATIONAL CHALLENGE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Missing Concur PR Numbers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• The Issue: Staff received physical deliveries on site and completed orders in ProcureFlow without ever returning to log the SAP Concur Purchase Request number (PR #) or PO #.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• Business Impact: Created orphaned records where Concur spend could not be matched against ProcureFlow physical receipts, breaking cross-system audit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59669"/>
                </a:solidFill>
                <a:latin typeface="Segoe UI"/>
              </a:defRPr>
            </a:pPr>
            <a:r>
              <a:t>THE ENGINEERED SOLUTION &amp; WHY IT WORKS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Mandatory Concur Block &amp; Homepage Center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The Solution: </a:t>
            </a:r>
            <a:r>
              <a:rPr sz="1050">
                <a:solidFill>
                  <a:srgbClr val="475569"/>
                </a:solidFill>
                <a:latin typeface="Segoe UI"/>
              </a:rPr>
              <a:t>Hard block on order closure without Concur reference, plus Homepage Action Required center showing pending Concur links on login.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Why This is the Solution: </a:t>
            </a:r>
            <a:r>
              <a:rPr sz="1050">
                <a:solidFill>
                  <a:srgbClr val="475569"/>
                </a:solidFill>
                <a:latin typeface="Segoe UI"/>
              </a:rPr>
              <a:t>Placing the block at the final step of order completion guarantees users capture the Concur reference before the transaction finalizes.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100% ERP Mirroring: </a:t>
            </a:r>
            <a:r>
              <a:rPr sz="1050">
                <a:solidFill>
                  <a:srgbClr val="475569"/>
                </a:solidFill>
                <a:latin typeface="Segoe UI"/>
              </a:rPr>
              <a:t>Every completed order in ProcureFlow has a direct audit mirror in SAP Concur.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✓ Instant Task Access: </a:t>
            </a:r>
            <a:r>
              <a:rPr sz="1050">
                <a:solidFill>
                  <a:srgbClr val="475569"/>
                </a:solidFill>
                <a:latin typeface="Segoe UI"/>
              </a:rPr>
              <a:t>Homepage banner provides 1-click navigation directly to pending orders.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EXECUTIVE FINANCIAL INTELLIGENCE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Horizon 2: Native EOM Spend &amp; Budget Reconciliation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FY27 TOTAL BUDGET</a:t>
            </a:r>
          </a:p>
          <a:p>
            <a:pPr>
              <a:defRPr sz="2000" b="1">
                <a:solidFill>
                  <a:srgbClr val="0284C7"/>
                </a:solidFill>
                <a:latin typeface="Segoe UI"/>
              </a:defRPr>
            </a:pPr>
            <a:r>
              <a:t>$14.521M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Baseline Operating Budget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3864" y="146304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21024" y="1508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DEPLETION RUN RATE</a:t>
            </a:r>
          </a:p>
          <a:p>
            <a:pPr>
              <a:defRPr sz="2000" b="1">
                <a:solidFill>
                  <a:srgbClr val="059669"/>
                </a:solidFill>
                <a:latin typeface="Segoe UI"/>
              </a:defRPr>
            </a:pPr>
            <a:r>
              <a:t>$9.921M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$826.8k / Month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46304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508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NEW BUSINESS POOL</a:t>
            </a:r>
          </a:p>
          <a:p>
            <a:pPr>
              <a:defRPr sz="2000" b="1">
                <a:solidFill>
                  <a:srgbClr val="9333EA"/>
                </a:solidFill>
                <a:latin typeface="Segoe UI"/>
              </a:defRPr>
            </a:pPr>
            <a:r>
              <a:t>$2.300M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$191.7k / Month 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1463040"/>
            <a:ext cx="24688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5712" y="1508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LINEN HUB DEDICATED</a:t>
            </a:r>
          </a:p>
          <a:p>
            <a:pPr>
              <a:defRPr sz="2000" b="1">
                <a:solidFill>
                  <a:srgbClr val="D97706"/>
                </a:solidFill>
                <a:latin typeface="Segoe UI"/>
              </a:defRPr>
            </a:pPr>
            <a:r>
              <a:t>$2.300M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Decrement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10728655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1027145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Why This is the Solution for Executive Leadership: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• Automates 3 Days of Work: </a:t>
            </a:r>
            <a:r>
              <a:rPr sz="1050">
                <a:solidFill>
                  <a:srgbClr val="475569"/>
                </a:solidFill>
                <a:latin typeface="Segoe UI"/>
              </a:rPr>
              <a:t>Natively replicates Ashish's Concur EOM Pivot (Branch × Sector × Reason) excluding GST (Total / 1.1) in seconds.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• 100% Precision Verified: </a:t>
            </a:r>
            <a:r>
              <a:rPr sz="1050">
                <a:solidFill>
                  <a:srgbClr val="475569"/>
                </a:solidFill>
                <a:latin typeface="Segoe UI"/>
              </a:rPr>
              <a:t>Regex classifier achieves verified 100.0% accuracy matching Ashish's historical dataset (52/52 records reconciled).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• Branch Variance Tracking: </a:t>
            </a:r>
            <a:r>
              <a:rPr sz="1050">
                <a:solidFill>
                  <a:srgbClr val="475569"/>
                </a:solidFill>
                <a:latin typeface="Segoe UI"/>
              </a:rPr>
              <a:t>Tracks monthly actuals and YTD spend vs baseline budgets across all 8 branches (Melbourne $2.65M, Sydney $2.78M, Adelaide $920k, Brisbane $1.03M, Cairns $706k, Mackay $349k, Perth $996k, Albury $481k).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• Dedicated Linen Hub Pool: </a:t>
            </a:r>
            <a:r>
              <a:rPr sz="1050">
                <a:solidFill>
                  <a:srgbClr val="475569"/>
                </a:solidFill>
                <a:latin typeface="Segoe UI"/>
              </a:rPr>
              <a:t>Maintains continuous decrement balance tracking against the dedicated $2.30M injection reserve.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• Strategic Subcontracts: </a:t>
            </a:r>
            <a:r>
              <a:rPr sz="1050">
                <a:solidFill>
                  <a:srgbClr val="475569"/>
                </a:solidFill>
                <a:latin typeface="Segoe UI"/>
              </a:rPr>
              <a:t>Real-time visibility into HealthShare Victoria (HSV) and Ramsay Health Care (RHC) spend.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• 1-Click Concur Export: </a:t>
            </a:r>
            <a:r>
              <a:rPr sz="1050">
                <a:solidFill>
                  <a:srgbClr val="475569"/>
                </a:solidFill>
                <a:latin typeface="Segoe UI"/>
              </a:rPr>
              <a:t>Generates formatted leadership-ready Excel CSV reconciliation files at a single click.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FUTURE SCALING ROADMAP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Horizon 3: Strategic Forward Pipeline (Next 2 Months)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INVENTORY &amp; GOVERNANCE PIPELINE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Live SOH &amp; Training Governance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2-Month Live SOH Testing: </a:t>
            </a:r>
            <a:r>
              <a:rPr sz="1000">
                <a:solidFill>
                  <a:srgbClr val="475569"/>
                </a:solidFill>
                <a:latin typeface="Segoe UI"/>
              </a:rPr>
              <a:t>Ashish Chhabra and Aaron Bell run parallel comparisons of live inventory feeds in ProcureFlow vs manual Excel reports across Sept-Oct 2026.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Retirement of Manual Emails: </a:t>
            </a:r>
            <a:r>
              <a:rPr sz="1000">
                <a:solidFill>
                  <a:srgbClr val="475569"/>
                </a:solidFill>
                <a:latin typeface="Segoe UI"/>
              </a:rPr>
              <a:t>Once 100% parity is verified across 2 billing cycles, plant managers will rely exclusively on ProcureFlow, retiring weekly Excel emailing.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Mandatory Training Video: </a:t>
            </a:r>
            <a:r>
              <a:rPr sz="1000">
                <a:solidFill>
                  <a:srgbClr val="475569"/>
                </a:solidFill>
                <a:latin typeface="Segoe UI"/>
              </a:rPr>
              <a:t>Site staff must complete the interactive video training module and digitally confirm sign-off before purchasing access is enabled.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Audit Compliance: </a:t>
            </a:r>
            <a:r>
              <a:rPr sz="1000">
                <a:solidFill>
                  <a:srgbClr val="475569"/>
                </a:solidFill>
                <a:latin typeface="Segoe UI"/>
              </a:rPr>
              <a:t>Creates an audited record proving staff understand packaging rules, price validation, and Concur PR # attachment.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709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333EA"/>
                </a:solidFill>
                <a:latin typeface="Segoe UI"/>
              </a:defRPr>
            </a:pPr>
            <a:r>
              <a:t>SYSTEM MIGRATION &amp; ESCALATIONS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Short Supply &amp; Omnichannel Reach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Short Supply Logic Migration: </a:t>
            </a:r>
            <a:r>
              <a:rPr sz="1000">
                <a:solidFill>
                  <a:srgbClr val="475569"/>
                </a:solidFill>
                <a:latin typeface="Segoe UI"/>
              </a:rPr>
              <a:t>Migrate the legacy Short Supply BI / Power Apps workflow natively into ProcureFlow with validated mathematical parity.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Demand vs Availability: </a:t>
            </a:r>
            <a:r>
              <a:rPr sz="1000">
                <a:solidFill>
                  <a:srgbClr val="475569"/>
                </a:solidFill>
                <a:latin typeface="Segoe UI"/>
              </a:rPr>
              <a:t>Calculates net availability by comparing supplier inventory against committed branch linen demand.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100% GR Closure Nudges: </a:t>
            </a:r>
            <a:r>
              <a:rPr sz="1000">
                <a:solidFill>
                  <a:srgbClr val="475569"/>
                </a:solidFill>
                <a:latin typeface="Segoe UI"/>
              </a:rPr>
              <a:t>Automated daily reminders to complete delivered orders; prompts variance resolution with Ashish if quantities differ.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Overdue Delivery Escalation: </a:t>
            </a:r>
            <a:r>
              <a:rPr sz="1000">
                <a:solidFill>
                  <a:srgbClr val="475569"/>
                </a:solidFill>
                <a:latin typeface="Segoe UI"/>
              </a:rPr>
              <a:t>Tiered alerts (&gt;14d to user, &gt;21d copying line managers e.g. David, Ashish, Ebrahim).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✓ Teams Adaptive Cards (v1.4): </a:t>
            </a:r>
            <a:r>
              <a:rPr sz="1000">
                <a:solidFill>
                  <a:srgbClr val="475569"/>
                </a:solidFill>
                <a:latin typeface="Segoe UI"/>
              </a:rPr>
              <a:t>Direct 1-click approvals sent to Microsoft Teams and Outlook.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SITE EXPANSION FRAMEWORK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Adelaide Rollout Blueprint: Scalable 4-Phase Implementation Template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0284C7"/>
                </a:solidFill>
                <a:latin typeface="Segoe UI"/>
              </a:defRPr>
            </a:pPr>
            <a:r>
              <a:t>PHASE 1 (WEEK 1)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Master Setup &amp; Accounts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Configure delivery addresses &amp; vendor accounts for Adelaide.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Adelaide catalog SKU filtering &amp; pricing schedules.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Provision user accounts (Site Manager, Requesters, Receivers).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16916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9333EA"/>
                </a:solidFill>
                <a:latin typeface="Segoe UI"/>
              </a:defRPr>
            </a:pPr>
            <a:r>
              <a:t>PHASE 2 (WEEK 2)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Governance &amp; Video Training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Distribute standardized ProcureFlow training video to Adelaide staff.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Enforce mandatory user sign-off tracking before activating ordering access.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Hands-on walkthrough with Adelaide site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t>PHASE 3 (WEEKS 3–4)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Shadow Requisitions &amp; DOA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2-week parallel ordering period to validate local site behavior.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Verify carton multiple adherence and price validation rules.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Calibrate DOA approval thresholds with Ashish Chhabra.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69164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059669"/>
                </a:solidFill>
                <a:latin typeface="Segoe UI"/>
              </a:defRPr>
            </a:pPr>
            <a:r>
              <a:t>PHASE 4 (WEEK 5)</a:t>
            </a:r>
          </a:p>
          <a:p>
            <a:pPr>
              <a:spcAft>
                <a:spcPts val="1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Full Production Cutover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100% cutover of Adelaide linen purchasing into ProcureFlow.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Mandatory Concur PR # linkage enforced on all receipts.</a:t>
            </a:r>
          </a:p>
          <a:p>
            <a:pPr>
              <a:spcAft>
                <a:spcPts val="1000"/>
              </a:spcAft>
            </a:pPr>
            <a:r>
              <a:rPr sz="1000">
                <a:solidFill>
                  <a:srgbClr val="475569"/>
                </a:solidFill>
                <a:latin typeface="Segoe UI"/>
              </a:rPr>
              <a:t>• Complete retirement of manual email/paper ordering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