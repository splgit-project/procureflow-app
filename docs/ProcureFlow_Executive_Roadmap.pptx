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28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 b="1">
                <a:solidFill>
                  <a:srgbClr val="0EA5E9"/>
                </a:solidFill>
                <a:latin typeface="Segoe UI"/>
              </a:defRPr>
            </a:pPr>
            <a:r>
              <a:t>SOUTH PACIFIC LAUNDRY  |  EXECUTIVE STRATEGIC REVIEW</a:t>
            </a:r>
          </a:p>
          <a:p>
            <a:pPr>
              <a:spcAft>
                <a:spcPts val="1600"/>
              </a:spcAft>
              <a:defRPr sz="3600" b="1">
                <a:solidFill>
                  <a:srgbClr val="FFFFFF"/>
                </a:solidFill>
                <a:latin typeface="Segoe UI"/>
              </a:defRPr>
            </a:pPr>
            <a:r>
              <a:t>ProcureFlow: Journey to Seamless BAU Integration</a:t>
            </a:r>
          </a:p>
          <a:p>
            <a:pPr>
              <a:spcAft>
                <a:spcPts val="3600"/>
              </a:spcAft>
              <a:defRPr sz="1400">
                <a:solidFill>
                  <a:srgbClr val="94A3B8"/>
                </a:solidFill>
                <a:latin typeface="Segoe UI"/>
              </a:defRPr>
            </a:pPr>
            <a:r>
              <a:t>Previous State Foundation  •  Current State Wins &amp; Challenges  •  Target Developed State &amp; Closed-Loop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12064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0EA5E9"/>
                </a:solidFill>
                <a:latin typeface="Segoe UI"/>
              </a:defRPr>
            </a:pPr>
            <a:r>
              <a:t>KEY GOVERNANCE STAKEHOLDERS:</a:t>
            </a:r>
          </a:p>
          <a:p>
            <a:pPr>
              <a:defRPr sz="1300" b="1">
                <a:solidFill>
                  <a:srgbClr val="FFFFFF"/>
                </a:solidFill>
                <a:latin typeface="Segoe UI"/>
              </a:defRPr>
            </a:pPr>
            <a:r>
              <a:t>Ebrahim Mokhtari (Chief Operating Officer)   |   Ashish Chhabra (Procurement Lead / Super User)   |   Aaron Bell (Tech Lead)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STRATEGIC TRANSFORMATION FRAMEWORK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Strategic Narrative: The Evolution of ProcureFlow in SPL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3328416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691640"/>
            <a:ext cx="287121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0284C7"/>
                </a:solidFill>
                <a:latin typeface="Segoe UI"/>
              </a:defRPr>
            </a:pPr>
            <a:r>
              <a:t>STAGE 1: THE FOUNDATION</a:t>
            </a:r>
          </a:p>
          <a:p>
            <a:pPr>
              <a:spcAft>
                <a:spcPts val="200"/>
              </a:spcAft>
              <a:defRPr sz="1700" b="1">
                <a:solidFill>
                  <a:srgbClr val="0F172A"/>
                </a:solidFill>
                <a:latin typeface="Segoe UI"/>
              </a:defRPr>
            </a:pPr>
            <a:r>
              <a:t>Previous State</a:t>
            </a:r>
          </a:p>
          <a:p>
            <a:pPr>
              <a:spcAft>
                <a:spcPts val="1400"/>
              </a:spcAft>
              <a:defRPr sz="1000" b="1">
                <a:solidFill>
                  <a:srgbClr val="64748B"/>
                </a:solidFill>
                <a:latin typeface="Segoe UI"/>
              </a:defRPr>
            </a:pPr>
            <a:r>
              <a:t>What ProcureFlow Provided the Business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Digitized Linen Requisitions:</a:t>
            </a:r>
            <a:r>
              <a:rPr sz="1050">
                <a:solidFill>
                  <a:srgbClr val="475569"/>
                </a:solidFill>
                <a:latin typeface="Segoe UI"/>
              </a:rPr>
              <a:t> Replaced manual emails and paper forms with a structured ordering portal.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Multi-Site Management:</a:t>
            </a:r>
            <a:r>
              <a:rPr sz="1050">
                <a:solidFill>
                  <a:srgbClr val="475569"/>
                </a:solidFill>
                <a:latin typeface="Segoe UI"/>
              </a:rPr>
              <a:t> Enabled branch-specific catalog browsing and centralized delivery address routing.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Baseline Approval Hierarchy:</a:t>
            </a:r>
            <a:r>
              <a:rPr sz="1050">
                <a:solidFill>
                  <a:srgbClr val="475569"/>
                </a:solidFill>
                <a:latin typeface="Segoe UI"/>
              </a:rPr>
              <a:t> Created initial review gates for site managers and procurement.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Goods Receipting (GR) Logging:</a:t>
            </a:r>
            <a:r>
              <a:rPr sz="1050">
                <a:solidFill>
                  <a:srgbClr val="475569"/>
                </a:solidFill>
                <a:latin typeface="Segoe UI"/>
              </a:rPr>
              <a:t> Established physical docket tracking on site for delivery confirmation.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25696" y="1463040"/>
            <a:ext cx="3328416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54296" y="1691640"/>
            <a:ext cx="287121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D97706"/>
                </a:solidFill>
                <a:latin typeface="Segoe UI"/>
              </a:defRPr>
            </a:pPr>
            <a:r>
              <a:t>STAGE 2: THE REALITY</a:t>
            </a:r>
          </a:p>
          <a:p>
            <a:pPr>
              <a:spcAft>
                <a:spcPts val="200"/>
              </a:spcAft>
              <a:defRPr sz="1700" b="1">
                <a:solidFill>
                  <a:srgbClr val="0F172A"/>
                </a:solidFill>
                <a:latin typeface="Segoe UI"/>
              </a:defRPr>
            </a:pPr>
            <a:r>
              <a:t>Current State</a:t>
            </a:r>
          </a:p>
          <a:p>
            <a:pPr>
              <a:spcAft>
                <a:spcPts val="1400"/>
              </a:spcAft>
              <a:defRPr sz="1000" b="1">
                <a:solidFill>
                  <a:srgbClr val="64748B"/>
                </a:solidFill>
                <a:latin typeface="Segoe UI"/>
              </a:defRPr>
            </a:pPr>
            <a:r>
              <a:t>Wins, Challenges &amp; Operational Friction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Key Wins:</a:t>
            </a:r>
            <a:r>
              <a:rPr sz="1050">
                <a:solidFill>
                  <a:srgbClr val="475569"/>
                </a:solidFill>
                <a:latin typeface="Segoe UI"/>
              </a:rPr>
              <a:t> 100% item code mapping achieved; centralized spend taxonomy (Depletion vs New Business).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Operational Challenges:</a:t>
            </a:r>
            <a:r>
              <a:rPr sz="1050">
                <a:solidFill>
                  <a:srgbClr val="475569"/>
                </a:solidFill>
                <a:latin typeface="Segoe UI"/>
              </a:rPr>
              <a:t> Manual EOM Excel crunching by super user; unrounded pack sizes; contract pricing typos; missing Concur ERP links.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The Strategic Opportunity:</a:t>
            </a:r>
            <a:r>
              <a:rPr sz="1050">
                <a:solidFill>
                  <a:srgbClr val="475569"/>
                </a:solidFill>
                <a:latin typeface="Segoe UI"/>
              </a:rPr>
              <a:t> Transition from a passive recording tool to an active, self-governing platform.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19872" y="1463040"/>
            <a:ext cx="3328416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48472" y="1691640"/>
            <a:ext cx="287121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059669"/>
                </a:solidFill>
                <a:latin typeface="Segoe UI"/>
              </a:defRPr>
            </a:pPr>
            <a:r>
              <a:t>STAGE 3: THE VISION</a:t>
            </a:r>
          </a:p>
          <a:p>
            <a:pPr>
              <a:spcAft>
                <a:spcPts val="200"/>
              </a:spcAft>
              <a:defRPr sz="1700" b="1">
                <a:solidFill>
                  <a:srgbClr val="0F172A"/>
                </a:solidFill>
                <a:latin typeface="Segoe UI"/>
              </a:defRPr>
            </a:pPr>
            <a:r>
              <a:t>Future / Developed State</a:t>
            </a:r>
          </a:p>
          <a:p>
            <a:pPr>
              <a:spcAft>
                <a:spcPts val="1400"/>
              </a:spcAft>
              <a:defRPr sz="1000" b="1">
                <a:solidFill>
                  <a:srgbClr val="64748B"/>
                </a:solidFill>
                <a:latin typeface="Segoe UI"/>
              </a:defRPr>
            </a:pPr>
            <a:r>
              <a:t>Frictionless BAU Integration &amp; User Engagement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Zero-Defect Input Governance:</a:t>
            </a:r>
            <a:r>
              <a:rPr sz="1050">
                <a:solidFill>
                  <a:srgbClr val="475569"/>
                </a:solidFill>
                <a:latin typeface="Segoe UI"/>
              </a:rPr>
              <a:t> Automated carton multiple rounding and contract price master checks.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Closed-Loop ERP Parity:</a:t>
            </a:r>
            <a:r>
              <a:rPr sz="1050">
                <a:solidFill>
                  <a:srgbClr val="475569"/>
                </a:solidFill>
                <a:latin typeface="Segoe UI"/>
              </a:rPr>
              <a:t> Mandatory Concur PR # rule and live Action Required homepage center.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Executive Intelligence:</a:t>
            </a:r>
            <a:r>
              <a:rPr sz="1050">
                <a:solidFill>
                  <a:srgbClr val="475569"/>
                </a:solidFill>
                <a:latin typeface="Segoe UI"/>
              </a:rPr>
              <a:t> Real-time 2D EOM Pivot Reconciliation and FY27 Budget burn rate tracking ($14.521M).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Self-Sustaining User Engagement:</a:t>
            </a:r>
            <a:r>
              <a:rPr sz="1050">
                <a:solidFill>
                  <a:srgbClr val="475569"/>
                </a:solidFill>
                <a:latin typeface="Segoe UI"/>
              </a:rPr>
              <a:t> Guardrails guide users naturally to achieve permanent compliance.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Segoe UI"/>
              </a:defRPr>
            </a:pPr>
            <a:r>
              <a:t>ACT 1: THE FOUNDATION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Previous State: What ProcureFlow Has Provided to South Pacific Laundry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66360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645920"/>
            <a:ext cx="470916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284C7"/>
                </a:solidFill>
                <a:latin typeface="Segoe UI"/>
              </a:defRPr>
            </a:pPr>
            <a:r>
              <a:t>01  |  DIGITIZED REQUISITIONING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  <a:latin typeface="Segoe UI"/>
              </a:defRPr>
            </a:pPr>
            <a:r>
              <a:t>Replaced informal emails, phone orders, and physical paperwork with a single standardized online ordering portal for all laundry sites.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463040"/>
            <a:ext cx="5166360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0" y="1645920"/>
            <a:ext cx="470916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9333EA"/>
                </a:solidFill>
                <a:latin typeface="Segoe UI"/>
              </a:defRPr>
            </a:pPr>
            <a:r>
              <a:t>02  |  MULTI-SITE GOVERNANCE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  <a:latin typeface="Segoe UI"/>
              </a:defRPr>
            </a:pPr>
            <a:r>
              <a:t>Enabled site-specific product catalogs, delivery address routing, and local manager authorization across Melbourne, Sydney, Brisbane, Perth, Adelaide, Cairns, Mackay, and Albury.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77639"/>
            <a:ext cx="5166360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4160519"/>
            <a:ext cx="470916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59669"/>
                </a:solidFill>
                <a:latin typeface="Segoe UI"/>
              </a:defRPr>
            </a:pPr>
            <a:r>
              <a:t>03  |  GOODS RECEIPT (GR) TRACKING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  <a:latin typeface="Segoe UI"/>
              </a:defRPr>
            </a:pPr>
            <a:r>
              <a:t>Established digital delivery logging on site, capturing dockets, received quantities, and initial partial delivery histories for audit visibility.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977639"/>
            <a:ext cx="5166360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4160519"/>
            <a:ext cx="470916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D97706"/>
                </a:solidFill>
                <a:latin typeface="Segoe UI"/>
              </a:defRPr>
            </a:pPr>
            <a:r>
              <a:t>04  |  FINANCIAL CATEGORISATION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  <a:latin typeface="Segoe UI"/>
              </a:defRPr>
            </a:pPr>
            <a:r>
              <a:t>Introduced structured taxonomy for classifying spend reasons (Depletion vs New Customer Injection vs Other) to support management reporting.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Segoe UI"/>
              </a:defRPr>
            </a:pPr>
            <a:r>
              <a:t>ACT 2: OPERATIONAL WINS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Current State: Key Operational Wins &amp; Milestones Achieved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3328416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691640"/>
            <a:ext cx="287121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059669"/>
                </a:solidFill>
                <a:latin typeface="Segoe UI"/>
              </a:defRPr>
            </a:pPr>
            <a:r>
              <a:t>MASTER DATA MILESTONE</a:t>
            </a:r>
          </a:p>
          <a:p>
            <a:pPr>
              <a:spcAft>
                <a:spcPts val="1400"/>
              </a:spcAft>
              <a:defRPr sz="1500" b="1">
                <a:solidFill>
                  <a:srgbClr val="0F172A"/>
                </a:solidFill>
                <a:latin typeface="Segoe UI"/>
              </a:defRPr>
            </a:pPr>
            <a:r>
              <a:t>1. 100% Item Code Mapping</a:t>
            </a:r>
          </a:p>
          <a:p>
            <a:pPr>
              <a:spcAft>
                <a:spcPts val="1000"/>
              </a:spcAft>
              <a:defRPr sz="1050">
                <a:solidFill>
                  <a:srgbClr val="334155"/>
                </a:solidFill>
                <a:latin typeface="Segoe UI"/>
              </a:defRPr>
            </a:pPr>
            <a:r>
              <a:t>✓ Completed 100% mapping of SPL internal item codes against vendor product codes (Simba, Host, etc.).</a:t>
            </a:r>
          </a:p>
          <a:p>
            <a:pPr>
              <a:spcAft>
                <a:spcPts val="1000"/>
              </a:spcAft>
              <a:defRPr sz="1050">
                <a:solidFill>
                  <a:srgbClr val="334155"/>
                </a:solidFill>
                <a:latin typeface="Segoe UI"/>
              </a:defRPr>
            </a:pPr>
            <a:r>
              <a:t>✓ Eliminated ambiguity in item descriptions across branches.</a:t>
            </a:r>
          </a:p>
          <a:p>
            <a:pPr>
              <a:spcAft>
                <a:spcPts val="1000"/>
              </a:spcAft>
              <a:defRPr sz="1050">
                <a:solidFill>
                  <a:srgbClr val="334155"/>
                </a:solidFill>
                <a:latin typeface="Segoe UI"/>
              </a:defRPr>
            </a:pPr>
            <a:r>
              <a:t>✓ Enables seamless automated pricing checks and supplier catalog synchronization.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25696" y="1463040"/>
            <a:ext cx="3328416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54296" y="1691640"/>
            <a:ext cx="287121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0284C7"/>
                </a:solidFill>
                <a:latin typeface="Segoe UI"/>
              </a:defRPr>
            </a:pPr>
            <a:r>
              <a:t>NATIONAL OPERATIONAL SCALE</a:t>
            </a:r>
          </a:p>
          <a:p>
            <a:pPr>
              <a:spcAft>
                <a:spcPts val="1400"/>
              </a:spcAft>
              <a:defRPr sz="1500" b="1">
                <a:solidFill>
                  <a:srgbClr val="0F172A"/>
                </a:solidFill>
                <a:latin typeface="Segoe UI"/>
              </a:defRPr>
            </a:pPr>
            <a:r>
              <a:t>2. Multi-Branch Requisitioning</a:t>
            </a:r>
          </a:p>
          <a:p>
            <a:pPr>
              <a:spcAft>
                <a:spcPts val="1000"/>
              </a:spcAft>
              <a:defRPr sz="1050">
                <a:solidFill>
                  <a:srgbClr val="334155"/>
                </a:solidFill>
                <a:latin typeface="Segoe UI"/>
              </a:defRPr>
            </a:pPr>
            <a:r>
              <a:t>✓ Active daily requisitioning across all 8 operating entities.</a:t>
            </a:r>
          </a:p>
          <a:p>
            <a:pPr>
              <a:spcAft>
                <a:spcPts val="1000"/>
              </a:spcAft>
              <a:defRPr sz="1050">
                <a:solidFill>
                  <a:srgbClr val="334155"/>
                </a:solidFill>
                <a:latin typeface="Segoe UI"/>
              </a:defRPr>
            </a:pPr>
            <a:r>
              <a:t>✓ Standardized reason tracking (Depletion vs New Business vs Linen Hub).</a:t>
            </a:r>
          </a:p>
          <a:p>
            <a:pPr>
              <a:spcAft>
                <a:spcPts val="1000"/>
              </a:spcAft>
              <a:defRPr sz="1050">
                <a:solidFill>
                  <a:srgbClr val="334155"/>
                </a:solidFill>
                <a:latin typeface="Segoe UI"/>
              </a:defRPr>
            </a:pPr>
            <a:r>
              <a:t>✓ Centralized audit trail capturing requester, approver, date, and comments on every order.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19872" y="1463040"/>
            <a:ext cx="3328416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48472" y="1691640"/>
            <a:ext cx="287121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333EA"/>
                </a:solidFill>
                <a:latin typeface="Segoe UI"/>
              </a:defRPr>
            </a:pPr>
            <a:r>
              <a:t>LIVE DATA INGESTION</a:t>
            </a:r>
          </a:p>
          <a:p>
            <a:pPr>
              <a:spcAft>
                <a:spcPts val="1400"/>
              </a:spcAft>
              <a:defRPr sz="1500" b="1">
                <a:solidFill>
                  <a:srgbClr val="0F172A"/>
                </a:solidFill>
                <a:latin typeface="Segoe UI"/>
              </a:defRPr>
            </a:pPr>
            <a:r>
              <a:t>3. Supplier Inventory Feeds</a:t>
            </a:r>
          </a:p>
          <a:p>
            <a:pPr>
              <a:spcAft>
                <a:spcPts val="1000"/>
              </a:spcAft>
              <a:defRPr sz="1050">
                <a:solidFill>
                  <a:srgbClr val="334155"/>
                </a:solidFill>
                <a:latin typeface="Segoe UI"/>
              </a:defRPr>
            </a:pPr>
            <a:r>
              <a:t>✓ Automated ingestion pipeline for supplier stock-on-hand (SOH) reports.</a:t>
            </a:r>
          </a:p>
          <a:p>
            <a:pPr>
              <a:spcAft>
                <a:spcPts val="1000"/>
              </a:spcAft>
              <a:defRPr sz="1050">
                <a:solidFill>
                  <a:srgbClr val="334155"/>
                </a:solidFill>
                <a:latin typeface="Segoe UI"/>
              </a:defRPr>
            </a:pPr>
            <a:r>
              <a:t>✓ Provides baseline visibility into supplier stock levels before orders are placed.</a:t>
            </a:r>
          </a:p>
          <a:p>
            <a:pPr>
              <a:spcAft>
                <a:spcPts val="1000"/>
              </a:spcAft>
              <a:defRPr sz="1050">
                <a:solidFill>
                  <a:srgbClr val="334155"/>
                </a:solidFill>
                <a:latin typeface="Segoe UI"/>
              </a:defRPr>
            </a:pPr>
            <a:r>
              <a:t>✓ Lays the foundation for deprecating manual weekly email distributions.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Segoe UI"/>
              </a:defRPr>
            </a:pPr>
            <a:r>
              <a:t>ACT 2: CHALLENGES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Current State: Operational Challenges &amp; Data Integrity Friction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66360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645920"/>
            <a:ext cx="470916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11D48"/>
                </a:solidFill>
                <a:latin typeface="Segoe UI"/>
              </a:defRPr>
            </a:pPr>
            <a:r>
              <a:t>HIGH WORKLOAD / RISK  |  1. MANUAL EOM EXCEL CRUNCHING</a:t>
            </a:r>
          </a:p>
          <a:p>
            <a:pPr>
              <a:defRPr sz="1050">
                <a:solidFill>
                  <a:srgbClr val="475569"/>
                </a:solidFill>
                <a:latin typeface="Segoe UI"/>
              </a:defRPr>
            </a:pPr>
            <a:r>
              <a:t>Ashish Chhabra (Super User) spends days each month extracting Concur reports, recalculating ex-GST values (/ 1.1), manually parsing unstandardized descriptions, and building pivot tables for executive reporting.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463040"/>
            <a:ext cx="5166360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0" y="1645920"/>
            <a:ext cx="470916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D97706"/>
                </a:solidFill>
                <a:latin typeface="Segoe UI"/>
              </a:defRPr>
            </a:pPr>
            <a:r>
              <a:t>SUPPLIER REJECTIONS  |  2. UNROUNDED REQUISITION QUANTITIES</a:t>
            </a:r>
          </a:p>
          <a:p>
            <a:pPr>
              <a:defRPr sz="1050">
                <a:solidFill>
                  <a:srgbClr val="475569"/>
                </a:solidFill>
                <a:latin typeface="Segoe UI"/>
              </a:defRPr>
            </a:pPr>
            <a:r>
              <a:t>Site staff order arbitrary quantities (e.g. 5,000 units on a 240 carton size, or 90 units on a 100 pack). Orders must be manually rejected and re-raised, creating operational delays.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77639"/>
            <a:ext cx="5166360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4160519"/>
            <a:ext cx="470916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11D48"/>
                </a:solidFill>
                <a:latin typeface="Segoe UI"/>
              </a:defRPr>
            </a:pPr>
            <a:r>
              <a:t>FINANCE INVOICE BLOCKS  |  3. CONTRACT PRICING TYPOS</a:t>
            </a:r>
          </a:p>
          <a:p>
            <a:pPr>
              <a:defRPr sz="1050">
                <a:solidFill>
                  <a:srgbClr val="475569"/>
                </a:solidFill>
                <a:latin typeface="Segoe UI"/>
              </a:defRPr>
            </a:pPr>
            <a:r>
              <a:t>Manual price entry leads to errors (e.g. keying 61¢ instead of contracted 51¢ for face washers). Discrepancies cause 3-way matching failures in finance and delayed payments.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977639"/>
            <a:ext cx="5166360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4160519"/>
            <a:ext cx="470916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D97706"/>
                </a:solidFill>
                <a:latin typeface="Segoe UI"/>
              </a:defRPr>
            </a:pPr>
            <a:r>
              <a:t>AUDIT &amp; REPORTING BLINDSPOT  |  4. MISSING CONCUR ERP LINKAGE</a:t>
            </a:r>
          </a:p>
          <a:p>
            <a:pPr>
              <a:defRPr sz="1050">
                <a:solidFill>
                  <a:srgbClr val="475569"/>
                </a:solidFill>
                <a:latin typeface="Segoe UI"/>
              </a:defRPr>
            </a:pPr>
            <a:r>
              <a:t>Staff mark orders as received in ProcureFlow but fail to enter the Concur Request PR #. This breaks 1-to-1 data mirroring and prevents automated spend reconciliation.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Segoe UI"/>
              </a:defRPr>
            </a:pPr>
            <a:r>
              <a:t>ACT 2: STRATEGIC OPPORTUNITY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The Strategic Opportunity: From Passive Tracking to Closed-Loop Governance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10728655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691640"/>
            <a:ext cx="1018001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0284C7"/>
                </a:solidFill>
                <a:latin typeface="Segoe UI"/>
              </a:defRPr>
            </a:pPr>
            <a:r>
              <a:t>Transforming ProcureFlow into SPL's Single Source of Truth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0F172A"/>
                </a:solidFill>
                <a:latin typeface="Segoe UI"/>
              </a:rPr>
              <a:t>★ Automated Point-of-Entry Guardrails: </a:t>
            </a:r>
            <a:r>
              <a:rPr sz="1100">
                <a:solidFill>
                  <a:srgbClr val="475569"/>
                </a:solidFill>
                <a:latin typeface="Segoe UI"/>
              </a:rPr>
              <a:t>Instead of relying on manual spot-checks and rejections, engineer hard system validation rules into the requisition UI that make it impossible to submit an incorrect quantity or price.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0F172A"/>
                </a:solidFill>
                <a:latin typeface="Segoe UI"/>
              </a:rPr>
              <a:t>★ Closed-Loop ERP Parity with SAP Concur: </a:t>
            </a:r>
            <a:r>
              <a:rPr sz="1100">
                <a:solidFill>
                  <a:srgbClr val="475569"/>
                </a:solidFill>
                <a:latin typeface="Segoe UI"/>
              </a:rPr>
              <a:t>Eliminate orphaned orders by enforcing mandatory Concur PR # logging before order completion, guaranteeing permanent 1-to-1 data alignment between Concur and ProcureFlow.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0F172A"/>
                </a:solidFill>
                <a:latin typeface="Segoe UI"/>
              </a:rPr>
              <a:t>★ Proactive Operational Escalations: </a:t>
            </a:r>
            <a:r>
              <a:rPr sz="1100">
                <a:solidFill>
                  <a:srgbClr val="475569"/>
                </a:solidFill>
                <a:latin typeface="Segoe UI"/>
              </a:rPr>
              <a:t>Deploy automated multi-channel notifications (In-App, Email, MS Teams) that remind users to complete delivered orders and automatically escalate stalled shipments (&gt;14 days) to line managers.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0F172A"/>
                </a:solidFill>
                <a:latin typeface="Segoe UI"/>
              </a:rPr>
              <a:t>★ Executive-Ready Financial Intelligence: </a:t>
            </a:r>
            <a:r>
              <a:rPr sz="1100">
                <a:solidFill>
                  <a:srgbClr val="475569"/>
                </a:solidFill>
                <a:latin typeface="Segoe UI"/>
              </a:rPr>
              <a:t>Automate the entire monthly EOM spend reconciliation into a native 2D Pivot Table (Branch × Sector × Reason), tracking FY27 budget burn rates ($14.521M) with 1-click CSV export.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0F172A"/>
                </a:solidFill>
                <a:latin typeface="Segoe UI"/>
              </a:rPr>
              <a:t>★ Self-Service Stock on Hand (SOH) Visibility: </a:t>
            </a:r>
            <a:r>
              <a:rPr sz="1100">
                <a:solidFill>
                  <a:srgbClr val="475569"/>
                </a:solidFill>
                <a:latin typeface="Segoe UI"/>
              </a:rPr>
              <a:t>Eliminate manual weekly spreadsheet emailing by providing state managers with direct, live inventory visibility inside ProcureFlow.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Segoe UI"/>
              </a:defRPr>
            </a:pPr>
            <a:r>
              <a:t>ACT 3: TARGET DEVELOPED STATE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Future State: The Vision of Seamless BAU Integration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3328416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691640"/>
            <a:ext cx="287121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0284C7"/>
                </a:solidFill>
                <a:latin typeface="Segoe UI"/>
              </a:defRPr>
            </a:pPr>
            <a:r>
              <a:t>FOR REQUESTERS &amp; SITES</a:t>
            </a:r>
          </a:p>
          <a:p>
            <a:pPr>
              <a:spcAft>
                <a:spcPts val="1400"/>
              </a:spcAft>
              <a:defRPr sz="1500" b="1">
                <a:solidFill>
                  <a:srgbClr val="0F172A"/>
                </a:solidFill>
                <a:latin typeface="Segoe UI"/>
              </a:defRPr>
            </a:pPr>
            <a:r>
              <a:t>Frictionless, Guided Ordering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✓ Zero-Guesswork Quantities:</a:t>
            </a:r>
            <a:r>
              <a:rPr sz="1050">
                <a:solidFill>
                  <a:srgbClr val="475569"/>
                </a:solidFill>
                <a:latin typeface="Segoe UI"/>
              </a:rPr>
              <a:t> Packaging multiples auto-enforced with 1-click smart rounding (e.g. 5,040 units).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✓ Guaranteed Price Compliance:</a:t>
            </a:r>
            <a:r>
              <a:rPr sz="1050">
                <a:solidFill>
                  <a:srgbClr val="475569"/>
                </a:solidFill>
                <a:latin typeface="Segoe UI"/>
              </a:rPr>
              <a:t> Active contracted supplier catalog pricing auto-populates lines.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✓ Action Required Dashboard:</a:t>
            </a:r>
            <a:r>
              <a:rPr sz="1050">
                <a:solidFill>
                  <a:srgbClr val="475569"/>
                </a:solidFill>
                <a:latin typeface="Segoe UI"/>
              </a:rPr>
              <a:t> On login, users immediately see pending tasks (e.g. log Concur PR #, complete received order).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25696" y="1463040"/>
            <a:ext cx="3328416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54296" y="1691640"/>
            <a:ext cx="287121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059669"/>
                </a:solidFill>
                <a:latin typeface="Segoe UI"/>
              </a:defRPr>
            </a:pPr>
            <a:r>
              <a:t>FOR PROCUREMENT (ASHISH CHHABRA)</a:t>
            </a:r>
          </a:p>
          <a:p>
            <a:pPr>
              <a:spcAft>
                <a:spcPts val="1400"/>
              </a:spcAft>
              <a:defRPr sz="1500" b="1">
                <a:solidFill>
                  <a:srgbClr val="0F172A"/>
                </a:solidFill>
                <a:latin typeface="Segoe UI"/>
              </a:defRPr>
            </a:pPr>
            <a:r>
              <a:t>Zero-Rework Governance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✓ Zero Supplier Rejections:</a:t>
            </a:r>
            <a:r>
              <a:rPr sz="1050">
                <a:solidFill>
                  <a:srgbClr val="475569"/>
                </a:solidFill>
                <a:latin typeface="Segoe UI"/>
              </a:rPr>
              <a:t> Orders arrive pre-validated for pack sizes and contracted rates.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✓ No Manual EOM Spreadsheets:</a:t>
            </a:r>
            <a:r>
              <a:rPr sz="1050">
                <a:solidFill>
                  <a:srgbClr val="475569"/>
                </a:solidFill>
                <a:latin typeface="Segoe UI"/>
              </a:rPr>
              <a:t> Month-end pivot reconciliation generated automatically in seconds.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✓ Live SOH Transparency:</a:t>
            </a:r>
            <a:r>
              <a:rPr sz="1050">
                <a:solidFill>
                  <a:srgbClr val="475569"/>
                </a:solidFill>
                <a:latin typeface="Segoe UI"/>
              </a:rPr>
              <a:t> Self-service inventory removes the manual weekly emailing burden.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19872" y="1463040"/>
            <a:ext cx="3328416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48472" y="1691640"/>
            <a:ext cx="287121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333EA"/>
                </a:solidFill>
                <a:latin typeface="Segoe UI"/>
              </a:defRPr>
            </a:pPr>
            <a:r>
              <a:t>FOR EXECUTIVE LEADERSHIP (EBRAHIM MOKHTARI)</a:t>
            </a:r>
          </a:p>
          <a:p>
            <a:pPr>
              <a:spcAft>
                <a:spcPts val="1400"/>
              </a:spcAft>
              <a:defRPr sz="1500" b="1">
                <a:solidFill>
                  <a:srgbClr val="0F172A"/>
                </a:solidFill>
                <a:latin typeface="Segoe UI"/>
              </a:defRPr>
            </a:pPr>
            <a:r>
              <a:t>Real-Time Spend Control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✓ Single Source of Truth:</a:t>
            </a:r>
            <a:r>
              <a:rPr sz="1050">
                <a:solidFill>
                  <a:srgbClr val="475569"/>
                </a:solidFill>
                <a:latin typeface="Segoe UI"/>
              </a:rPr>
              <a:t> ProcureFlow numbers match SAP Concur reports 100%.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✓ Live Budget Burn Tracking:</a:t>
            </a:r>
            <a:r>
              <a:rPr sz="1050">
                <a:solidFill>
                  <a:srgbClr val="475569"/>
                </a:solidFill>
                <a:latin typeface="Segoe UI"/>
              </a:rPr>
              <a:t> Real-time visibility into $14.521M FY27 budget and $2.3M Linen Hub pool.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✓ Strategic Subcontract Visibility:</a:t>
            </a:r>
            <a:r>
              <a:rPr sz="1050">
                <a:solidFill>
                  <a:srgbClr val="475569"/>
                </a:solidFill>
                <a:latin typeface="Segoe UI"/>
              </a:rPr>
              <a:t> Instant breakouts for HealthShare Victoria (HSV) and Ramsay Health Care (RHC).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Segoe UI"/>
              </a:defRPr>
            </a:pPr>
            <a:r>
              <a:t>ACT 3: DEVELOPMENT PILLARS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Development Roadmap: Core Engineered Capabilities Delivered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66360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645920"/>
            <a:ext cx="470916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0284C7"/>
                </a:solidFill>
                <a:latin typeface="Segoe UI"/>
              </a:defRPr>
            </a:pPr>
            <a:r>
              <a:t>PILLAR A: POINT-OF-ENTRY GOVERNANCE</a:t>
            </a:r>
          </a:p>
          <a:p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Input blocking rules for carton multiples (e.g. 5,000 -&gt; 5,040) &amp; contract price validation in POCreate/PODetail.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463040"/>
            <a:ext cx="5166360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0" y="1645920"/>
            <a:ext cx="470916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D97706"/>
                </a:solidFill>
                <a:latin typeface="Segoe UI"/>
              </a:defRPr>
            </a:pPr>
            <a:r>
              <a:t>PILLAR B: CLOSED-LOOP ERP PARITY</a:t>
            </a:r>
          </a:p>
          <a:p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Mandatory Concur PR # enforcement on PO closure &amp; Homepage Action Required task center.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77639"/>
            <a:ext cx="5166360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4160519"/>
            <a:ext cx="470916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11D48"/>
                </a:solidFill>
                <a:latin typeface="Segoe UI"/>
              </a:defRPr>
            </a:pPr>
            <a:r>
              <a:t>PILLAR C: AUTOMATED NOTIFICATIONS &amp; ESCALATIONS</a:t>
            </a:r>
          </a:p>
          <a:p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100% receipt closure reminders &amp; &gt;14d overdue delivery manager escalations (In-App, Email, MS Teams).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977639"/>
            <a:ext cx="5166360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4160519"/>
            <a:ext cx="470916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059669"/>
                </a:solidFill>
                <a:latin typeface="Segoe UI"/>
              </a:defRPr>
            </a:pPr>
            <a:r>
              <a:t>PILLAR D: EOM SPEND &amp; BUDGET RECONCILIATION</a:t>
            </a:r>
          </a:p>
          <a:p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Native 2D Pivot Table (Branch x Sector x Reason), FY27 Budget ($14.521M), Linen Hub $2.3M tracker &amp; 1-Click CSV export.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Segoe UI"/>
              </a:defRPr>
            </a:pPr>
            <a:r>
              <a:t>ACT 3: FINANCIAL CONTROL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Executive Intelligence: Real-Time EOM Budget Reconciliation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2468880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08760"/>
            <a:ext cx="2194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64748B"/>
                </a:solidFill>
                <a:latin typeface="Segoe UI"/>
              </a:defRPr>
            </a:pPr>
            <a:r>
              <a:t>FY27 TOTAL BUDGET</a:t>
            </a:r>
          </a:p>
          <a:p>
            <a:pPr>
              <a:defRPr sz="2000" b="1">
                <a:solidFill>
                  <a:srgbClr val="0284C7"/>
                </a:solidFill>
                <a:latin typeface="Segoe UI"/>
              </a:defRPr>
            </a:pPr>
            <a:r>
              <a:t>$14.521M</a:t>
            </a:r>
          </a:p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Baseline Operating Budget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83864" y="1463040"/>
            <a:ext cx="2468880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21024" y="1508760"/>
            <a:ext cx="2194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64748B"/>
                </a:solidFill>
                <a:latin typeface="Segoe UI"/>
              </a:defRPr>
            </a:pPr>
            <a:r>
              <a:t>DEPLETION SPEND TARGET</a:t>
            </a:r>
          </a:p>
          <a:p>
            <a:pPr>
              <a:defRPr sz="2000" b="1">
                <a:solidFill>
                  <a:srgbClr val="059669"/>
                </a:solidFill>
                <a:latin typeface="Segoe UI"/>
              </a:defRPr>
            </a:pPr>
            <a:r>
              <a:t>$9.921M</a:t>
            </a:r>
          </a:p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$826.8k / Month Run Rate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6208" y="1463040"/>
            <a:ext cx="2468880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73368" y="1508760"/>
            <a:ext cx="2194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64748B"/>
                </a:solidFill>
                <a:latin typeface="Segoe UI"/>
              </a:defRPr>
            </a:pPr>
            <a:r>
              <a:t>NEW BUSINESS POOL</a:t>
            </a:r>
          </a:p>
          <a:p>
            <a:pPr>
              <a:defRPr sz="2000" b="1">
                <a:solidFill>
                  <a:srgbClr val="9333EA"/>
                </a:solidFill>
                <a:latin typeface="Segoe UI"/>
              </a:defRPr>
            </a:pPr>
            <a:r>
              <a:t>$2.300M</a:t>
            </a:r>
          </a:p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$191.7k / Month Allocation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88552" y="1463040"/>
            <a:ext cx="2468880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25712" y="1508760"/>
            <a:ext cx="2194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64748B"/>
                </a:solidFill>
                <a:latin typeface="Segoe UI"/>
              </a:defRPr>
            </a:pPr>
            <a:r>
              <a:t>LINEN HUB DEDICATED</a:t>
            </a:r>
          </a:p>
          <a:p>
            <a:pPr>
              <a:defRPr sz="2000" b="1">
                <a:solidFill>
                  <a:srgbClr val="D97706"/>
                </a:solidFill>
                <a:latin typeface="Segoe UI"/>
              </a:defRPr>
            </a:pPr>
            <a:r>
              <a:t>$2.300M</a:t>
            </a:r>
          </a:p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Real-Time Decrement Pool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834640"/>
            <a:ext cx="10728655" cy="3383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017520"/>
            <a:ext cx="10271455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  <a:latin typeface="Segoe UI"/>
              </a:defRPr>
            </a:pPr>
            <a:r>
              <a:t>Financial Intelligence Capabilities Active in ProcureFlow Reporting Hub: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2D Cross-Tabulation Matrix: </a:t>
            </a:r>
            <a:r>
              <a:rPr sz="1050">
                <a:solidFill>
                  <a:srgbClr val="475569"/>
                </a:solidFill>
                <a:latin typeface="Segoe UI"/>
              </a:rPr>
              <a:t>Natively replicates Ashish's Concur EOM Pivot (Branch × Sector: Accommodation/Healthcare × Reason: Depletion/New Business/Linen Hub) excluding GST (Total / 1.1).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100% Classification Precision: </a:t>
            </a:r>
            <a:r>
              <a:rPr sz="1050">
                <a:solidFill>
                  <a:srgbClr val="475569"/>
                </a:solidFill>
                <a:latin typeface="Segoe UI"/>
              </a:rPr>
              <a:t>Automated legacy PO parser classifies unstandardised legacy PO strings with 100.0% parity against historical Concur records.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Branch Budget Tracking Grid: </a:t>
            </a:r>
            <a:r>
              <a:rPr sz="1050">
                <a:solidFill>
                  <a:srgbClr val="475569"/>
                </a:solidFill>
                <a:latin typeface="Segoe UI"/>
              </a:rPr>
              <a:t>Tracks monthly and YTD spend vs baseline budgets across all 8 operating entities (Melbourne $2.65M, Sydney $2.78M, Adelaide $920k, Brisbane $1.03M, Cairns $706k, Mackay $349k, Perth $996k, Albury $481k).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Dedicated Linen Hub Pool: </a:t>
            </a:r>
            <a:r>
              <a:rPr sz="1050">
                <a:solidFill>
                  <a:srgbClr val="475569"/>
                </a:solidFill>
                <a:latin typeface="Segoe UI"/>
              </a:rPr>
              <a:t>Maintains continuous decrement balance tracking against the dedicated $2.30M linen injection reserve.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Strategic Contract Breakouts: </a:t>
            </a:r>
            <a:r>
              <a:rPr sz="1050">
                <a:solidFill>
                  <a:srgbClr val="475569"/>
                </a:solidFill>
                <a:latin typeface="Segoe UI"/>
              </a:rPr>
              <a:t>Real-time visibility into HealthShare Victoria (HSV) and Ramsay Health Care (RHC) contract spend.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1-Click Concur EOM Export: </a:t>
            </a:r>
            <a:r>
              <a:rPr sz="1050">
                <a:solidFill>
                  <a:srgbClr val="475569"/>
                </a:solidFill>
                <a:latin typeface="Segoe UI"/>
              </a:rPr>
              <a:t>Generates formatted leadership-ready Excel CSV reconciliation files instantly.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Segoe UI"/>
              </a:defRPr>
            </a:pPr>
            <a:r>
              <a:t>ACT 3: EXECUTION &amp; SIGN-OFF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Thursday Executive Workshop Agenda &amp; Production Cutover Plan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246888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91640"/>
            <a:ext cx="21031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50" b="1">
                <a:solidFill>
                  <a:srgbClr val="0284C7"/>
                </a:solidFill>
                <a:latin typeface="Segoe UI"/>
              </a:defRPr>
            </a:pPr>
            <a:r>
              <a:t>12:00 – 12:30 PM</a:t>
            </a:r>
          </a:p>
          <a:p>
            <a:pPr>
              <a:spcAft>
                <a:spcPts val="600"/>
              </a:spcAft>
              <a:defRPr sz="1300" b="1">
                <a:solidFill>
                  <a:srgbClr val="0F172A"/>
                </a:solidFill>
                <a:latin typeface="Segoe UI"/>
              </a:defRPr>
            </a:pPr>
            <a:r>
              <a:t>1. Point-of-Entry Governance</a:t>
            </a:r>
          </a:p>
          <a:p>
            <a:pPr>
              <a:spcAft>
                <a:spcPts val="1400"/>
              </a:spcAft>
              <a:defRPr sz="850" b="1">
                <a:solidFill>
                  <a:srgbClr val="64748B"/>
                </a:solidFill>
                <a:latin typeface="Segoe UI"/>
              </a:defRPr>
            </a:pPr>
            <a:r>
              <a:t>LEAD: AARON BELL &amp; ASHISH CHHABRA</a:t>
            </a:r>
          </a:p>
          <a:p>
            <a:pPr>
              <a:spcAft>
                <a:spcPts val="1000"/>
              </a:spcAft>
              <a:defRPr sz="1050">
                <a:solidFill>
                  <a:srgbClr val="475569"/>
                </a:solidFill>
                <a:latin typeface="Segoe UI"/>
              </a:defRPr>
            </a:pPr>
            <a:r>
              <a:t>Live walkthrough of POCreate: Carton multiple rounding, price master validation, and 100% item code mapping milestone.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566160" y="1463040"/>
            <a:ext cx="246888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49040" y="1691640"/>
            <a:ext cx="21031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50" b="1">
                <a:solidFill>
                  <a:srgbClr val="0284C7"/>
                </a:solidFill>
                <a:latin typeface="Segoe UI"/>
              </a:defRPr>
            </a:pPr>
            <a:r>
              <a:t>12:30 – 1:00 PM</a:t>
            </a:r>
          </a:p>
          <a:p>
            <a:pPr>
              <a:spcAft>
                <a:spcPts val="600"/>
              </a:spcAft>
              <a:defRPr sz="1300" b="1">
                <a:solidFill>
                  <a:srgbClr val="0F172A"/>
                </a:solidFill>
                <a:latin typeface="Segoe UI"/>
              </a:defRPr>
            </a:pPr>
            <a:r>
              <a:t>2. DOA Approval &amp; Notification Engine</a:t>
            </a:r>
          </a:p>
          <a:p>
            <a:pPr>
              <a:spcAft>
                <a:spcPts val="1400"/>
              </a:spcAft>
              <a:defRPr sz="850" b="1">
                <a:solidFill>
                  <a:srgbClr val="64748B"/>
                </a:solidFill>
                <a:latin typeface="Segoe UI"/>
              </a:defRPr>
            </a:pPr>
            <a:r>
              <a:t>LEAD: ASHISH CHHABRA &amp; AARON BELL</a:t>
            </a:r>
          </a:p>
          <a:p>
            <a:pPr>
              <a:spcAft>
                <a:spcPts val="1000"/>
              </a:spcAft>
              <a:defRPr sz="1050">
                <a:solidFill>
                  <a:srgbClr val="475569"/>
                </a:solidFill>
                <a:latin typeface="Segoe UI"/>
              </a:defRPr>
            </a:pPr>
            <a:r>
              <a:t>DOA approval tiers, 100% receipt closure reminders, &gt;14d overdue manager escalation, and mandatory Concur PR # enforcement.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463040"/>
            <a:ext cx="246888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691640"/>
            <a:ext cx="21031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50" b="1">
                <a:solidFill>
                  <a:srgbClr val="0284C7"/>
                </a:solidFill>
                <a:latin typeface="Segoe UI"/>
              </a:defRPr>
            </a:pPr>
            <a:r>
              <a:t>1:00 – 1:30 PM</a:t>
            </a:r>
          </a:p>
          <a:p>
            <a:pPr>
              <a:spcAft>
                <a:spcPts val="600"/>
              </a:spcAft>
              <a:defRPr sz="1300" b="1">
                <a:solidFill>
                  <a:srgbClr val="0F172A"/>
                </a:solidFill>
                <a:latin typeface="Segoe UI"/>
              </a:defRPr>
            </a:pPr>
            <a:r>
              <a:t>3. Executive EOM Spend Reconciliation</a:t>
            </a:r>
          </a:p>
          <a:p>
            <a:pPr>
              <a:spcAft>
                <a:spcPts val="1400"/>
              </a:spcAft>
              <a:defRPr sz="850" b="1">
                <a:solidFill>
                  <a:srgbClr val="64748B"/>
                </a:solidFill>
                <a:latin typeface="Segoe UI"/>
              </a:defRPr>
            </a:pPr>
            <a:r>
              <a:t>LEAD: ASHISH CHHABRA &amp; AARON BELL</a:t>
            </a:r>
          </a:p>
          <a:p>
            <a:pPr>
              <a:spcAft>
                <a:spcPts val="1000"/>
              </a:spcAft>
              <a:defRPr sz="1050">
                <a:solidFill>
                  <a:srgbClr val="475569"/>
                </a:solidFill>
                <a:latin typeface="Segoe UI"/>
              </a:defRPr>
            </a:pPr>
            <a:r>
              <a:t>Live 2D Pivot Table (Branch × Sector × Reason), FY27 Budget vs Actuals burn rate grid, Linen Hub $2.3M tracker, and 1-Click CSV export.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235440" y="1463040"/>
            <a:ext cx="246888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0" y="1691640"/>
            <a:ext cx="21031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50" b="1">
                <a:solidFill>
                  <a:srgbClr val="0284C7"/>
                </a:solidFill>
                <a:latin typeface="Segoe UI"/>
              </a:defRPr>
            </a:pPr>
            <a:r>
              <a:t>1:30 – 2:00 PM</a:t>
            </a:r>
          </a:p>
          <a:p>
            <a:pPr>
              <a:spcAft>
                <a:spcPts val="600"/>
              </a:spcAft>
              <a:defRPr sz="1300" b="1">
                <a:solidFill>
                  <a:srgbClr val="0F172A"/>
                </a:solidFill>
                <a:latin typeface="Segoe UI"/>
              </a:defRPr>
            </a:pPr>
            <a:r>
              <a:t>4. SOH Automation &amp; Cutover Sign-Off</a:t>
            </a:r>
          </a:p>
          <a:p>
            <a:pPr>
              <a:spcAft>
                <a:spcPts val="1400"/>
              </a:spcAft>
              <a:defRPr sz="850" b="1">
                <a:solidFill>
                  <a:srgbClr val="64748B"/>
                </a:solidFill>
                <a:latin typeface="Segoe UI"/>
              </a:defRPr>
            </a:pPr>
            <a:r>
              <a:t>LEAD: EBRAHIM MOKHTARI (COO)</a:t>
            </a:r>
          </a:p>
          <a:p>
            <a:pPr>
              <a:spcAft>
                <a:spcPts val="1000"/>
              </a:spcAft>
              <a:defRPr sz="1050">
                <a:solidFill>
                  <a:srgbClr val="475569"/>
                </a:solidFill>
                <a:latin typeface="Segoe UI"/>
              </a:defRPr>
            </a:pPr>
            <a:r>
              <a:t>Review automated SOH distribution, feedback synthesis, and formal production sign-off by Ebrahim Mokhtari for merge to main.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